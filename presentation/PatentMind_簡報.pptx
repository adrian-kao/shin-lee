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word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051560"/>
            <a:ext cx="4370546" cy="1051560"/>
          </a:xfrm>
          <a:prstGeom prst="rect">
            <a:avLst/>
          </a:prstGeom>
          <a:effectLst>
            <a:outerShdw blurRad="90000" dist="38100" dir="5400000" rotWithShape="0">
              <a:srgbClr val="1A2236">
                <a:alpha val="26000"/>
              </a:srgb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86868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專利答辯安全 LLM 閘道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794760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C6D2EE"/>
                </a:solidFill>
                <a:latin typeface="Microsoft JhengHei"/>
                <a:ea typeface="Microsoft JhengHei"/>
                <a:cs typeface="Microsoft JhengHei"/>
              </a:rPr>
              <a:t>在 </a:t>
            </a:r>
            <a:r>
              <a:rPr sz="19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絕不讓客戶機密外洩到公有 LLM</a:t>
            </a:r>
            <a:r>
              <a:rPr sz="1900" b="0">
                <a:solidFill>
                  <a:srgbClr val="C6D2EE"/>
                </a:solidFill>
                <a:latin typeface="Microsoft JhengHei"/>
                <a:ea typeface="Microsoft JhengHei"/>
                <a:cs typeface="Microsoft JhengHei"/>
              </a:rPr>
              <a:t> 的前提下,半自動產出專利 OA 答辯稿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86968" y="4617720"/>
            <a:ext cx="4754880" cy="0"/>
          </a:xfrm>
          <a:prstGeom prst="bentConnector3">
            <a:avLst/>
          </a:prstGeom>
          <a:ln w="15240">
            <a:solidFill>
              <a:srgbClr val="3B55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86968" y="4800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DACD4"/>
                </a:solidFill>
                <a:latin typeface="Microsoft JhengHei"/>
                <a:ea typeface="Microsoft JhengHei"/>
                <a:cs typeface="Microsoft JhengHei"/>
              </a:rPr>
              <a:t>產品 SPA + 厚 Gateway + AI Engine　·　20 項架構決策 · 611 測試綠燈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5989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8D9CC4"/>
                </a:solidFill>
                <a:latin typeface="Microsoft JhengHei"/>
                <a:ea typeface="Microsoft JhengHei"/>
                <a:cs typeface="Microsoft JhengHei"/>
              </a:rPr>
              <a:t>NCCU GDGoC × Computex 2026　|　Proof of Concept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146304" cy="146304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00 </a:t>
            </a:r>
            <a:r>
              <a:rPr sz="14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·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簡報大綱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755648"/>
            <a:ext cx="10561320" cy="0"/>
          </a:xfrm>
          <a:prstGeom prst="bentConnector3">
            <a:avLst/>
          </a:prstGeom>
          <a:ln w="15240">
            <a:solidFill>
              <a:srgbClr val="D7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2039112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075688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題目說明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7802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我們在做什麼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26664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0632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動機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46557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為什麼值得做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14216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050791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使用技術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45312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技術選型一覽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01768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5038344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產品功能說明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5440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架構圖 + 前端畫面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039112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075688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Dify 與 digiRunner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47802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兩個平台怎麼對應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026664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30632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未來展望 · 收穫與心得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346557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上線整備與反思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014216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4050791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Demo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445312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現場操作流程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PatentMind AI　·　NCCU GDGoC × Computex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37215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486400" cy="3840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0000" b="1">
                <a:solidFill>
                  <a:srgbClr val="2A499A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2606040"/>
            <a:ext cx="6126480" cy="10972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題目說明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32120" y="3794760"/>
            <a:ext cx="6126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What it is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41264" y="3657600"/>
            <a:ext cx="2743199" cy="0"/>
          </a:xfrm>
          <a:prstGeom prst="bentConnector3">
            <a:avLst/>
          </a:prstGeom>
          <a:ln w="17780">
            <a:solidFill>
              <a:srgbClr val="3B55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146304" cy="146304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01 </a:t>
            </a:r>
            <a:r>
              <a:rPr sz="14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· 題目說明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為受規範領域打造的可信任 AI 閘道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755648"/>
            <a:ext cx="10561320" cy="0"/>
          </a:xfrm>
          <a:prstGeom prst="bentConnector3">
            <a:avLst/>
          </a:prstGeom>
          <a:ln w="15240">
            <a:solidFill>
              <a:srgbClr val="D7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59775" y="182880"/>
            <a:ext cx="38404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0" b="1">
                <a:solidFill>
                  <a:srgbClr val="EEF1F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一句話：</a:t>
            </a:r>
            <a:r>
              <a:rPr sz="1700" b="0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半自動產出專利審查意見(Office Action)答辯稿,且全程不讓機密進入公有 LLM。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真正的重點不是專利流程,而是底層的「安全 / 可信任 AI 閘道」模式 — </a:t>
            </a:r>
            <a:r>
              <a:rPr sz="15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可套用到任何處理機密、受合規規範資料的 AI 應用。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735324"/>
            <a:ext cx="118872" cy="118872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3657600"/>
            <a:ext cx="100401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服務三種角色:律師(撰稿簽核)、事務所(合規與責任)、客戶(資料機密)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155948"/>
            <a:ext cx="118872" cy="118872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8" y="4078224"/>
            <a:ext cx="100401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範圍:6 國管轄試作(US / TW / CN / KR / EP / JP),端到端可跑的 PoC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850892"/>
            <a:ext cx="118872" cy="118872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07008" y="4773168"/>
            <a:ext cx="100401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成果:20 項架構決策落地為「不可關閉的不變式」,611 項測試綠燈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271516"/>
            <a:ext cx="118872" cy="118872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07008" y="5193792"/>
            <a:ext cx="100401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與業界平台對齊:API Gateway → digiRunner、AI workflow → Dify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PatentMind AI　·　NCCU GDGoC × Computex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37215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486400" cy="3840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0000" b="1">
                <a:solidFill>
                  <a:srgbClr val="2A499A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2606040"/>
            <a:ext cx="6126480" cy="10972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動機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32120" y="3794760"/>
            <a:ext cx="6126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Why it matters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41264" y="3657600"/>
            <a:ext cx="2743199" cy="0"/>
          </a:xfrm>
          <a:prstGeom prst="bentConnector3">
            <a:avLst/>
          </a:prstGeom>
          <a:ln w="17780">
            <a:solidFill>
              <a:srgbClr val="3B55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146304" cy="146304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02 </a:t>
            </a:r>
            <a:r>
              <a:rPr sz="14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· 動機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律師手動答辯 OA 的四大風險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755648"/>
            <a:ext cx="10561320" cy="0"/>
          </a:xfrm>
          <a:prstGeom prst="bentConnector3">
            <a:avLst/>
          </a:prstGeom>
          <a:ln w="15240">
            <a:solidFill>
              <a:srgbClr val="D7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59775" y="182880"/>
            <a:ext cx="38404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0" b="1">
                <a:solidFill>
                  <a:srgbClr val="EEF1F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48839"/>
            <a:ext cx="54864" cy="960120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21031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2578608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讀 OA、找前案、寫答辯 = 8–12 小時 / 案,人力成本高。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148839"/>
            <a:ext cx="54864" cy="960120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21031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幻覺風險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578608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引用錯誤法條或捏造判例 = 專業責任事故。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520439"/>
            <a:ext cx="54864" cy="960120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34747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期限風險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950208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法定期日算錯 = 專利權喪失,且無法復原。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520439"/>
            <a:ext cx="54864" cy="960120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34747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機密性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3950208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客戶案件資料絕不能貼進 ChatGPT。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2960" y="5074920"/>
            <a:ext cx="10561320" cy="0"/>
          </a:xfrm>
          <a:prstGeom prst="bentConnector3">
            <a:avLst/>
          </a:prstGeom>
          <a:ln w="15240">
            <a:solidFill>
              <a:srgbClr val="D7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2960" y="5212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為什麼不能直接用 ChatGPT:</a:t>
            </a:r>
            <a:r>
              <a:rPr sz="1600" b="0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資料外洩 × 幻覺 × 無稽核 × 無究責。PatentMind 四者同時解,而律師仍對每一句話負責。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PatentMind AI　·　NCCU GDGoC × Computex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37215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486400" cy="3840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0000" b="1">
                <a:solidFill>
                  <a:srgbClr val="2A499A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2606040"/>
            <a:ext cx="6126480" cy="10972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使用技術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32120" y="3794760"/>
            <a:ext cx="6126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Tech stack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41264" y="3657600"/>
            <a:ext cx="2743199" cy="0"/>
          </a:xfrm>
          <a:prstGeom prst="bentConnector3">
            <a:avLst/>
          </a:prstGeom>
          <a:ln w="17780">
            <a:solidFill>
              <a:srgbClr val="3B55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146304" cy="146304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03 </a:t>
            </a:r>
            <a:r>
              <a:rPr sz="14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· 使用技術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技術選型一覽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755648"/>
            <a:ext cx="10561320" cy="0"/>
          </a:xfrm>
          <a:prstGeom prst="bentConnector3">
            <a:avLst/>
          </a:prstGeom>
          <a:ln w="15240">
            <a:solidFill>
              <a:srgbClr val="D7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59775" y="182880"/>
            <a:ext cx="38404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0" b="1">
                <a:solidFill>
                  <a:srgbClr val="EEF1F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182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057400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後端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2441448"/>
            <a:ext cx="4846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FastAPI 雙服務:Gateway :8010 / AI Engine :8011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Pydantic 型別 · SQLite append-only 稽核(hash chain)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057400"/>
            <a:ext cx="182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057400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前端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441448"/>
            <a:ext cx="4846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React 18 + Vite · TanStack Query · Tailwind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react-i18next(zh-TW / EN)· lucide icons · RWD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74720"/>
            <a:ext cx="182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3474720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AI / RAG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858768"/>
            <a:ext cx="4846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多模型路由 · grounded citation + verifier 兩段式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Hierarchical + Claim-tree chunking · 向量檢索(Qdrant 形狀)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474720"/>
            <a:ext cx="182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3474720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資安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3858768"/>
            <a:ext cx="4846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JWT(RS256)+ case ACL · PII / 客戶詞庫遮罩(可逆)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Prompt injection 四層防禦 · 成本斷路器 + 配額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92040"/>
            <a:ext cx="182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4892040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測試 / 維運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5276088"/>
            <a:ext cx="4846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pytest 611 綠 · Playwright e2e + 視覺回歸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env 一鍵抽換 mock↔prod(LLM_MODE / VECTOR_BACKEND / CACHE_BACKEND)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892040"/>
            <a:ext cx="182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4892040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平台對齊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5276088"/>
            <a:ext cx="4846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digiRunner — API Gateway 層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Dify — AI workflow 編排層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PatentMind AI　·　NCCU GDGoC × Computex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37215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486400" cy="3840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0000" b="1">
                <a:solidFill>
                  <a:srgbClr val="2A499A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2606040"/>
            <a:ext cx="6126480" cy="10972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產品功能說明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32120" y="3794760"/>
            <a:ext cx="6126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Product &amp; screens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41264" y="3657600"/>
            <a:ext cx="2743199" cy="0"/>
          </a:xfrm>
          <a:prstGeom prst="bentConnector3">
            <a:avLst/>
          </a:prstGeom>
          <a:ln w="17780">
            <a:solidFill>
              <a:srgbClr val="3B55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146304" cy="146304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04 </a:t>
            </a:r>
            <a:r>
              <a:rPr sz="14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· 產品功能說明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系統架構：一條「安全管線」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755648"/>
            <a:ext cx="10561320" cy="0"/>
          </a:xfrm>
          <a:prstGeom prst="bentConnector3">
            <a:avLst/>
          </a:prstGeom>
          <a:ln w="15240">
            <a:solidFill>
              <a:srgbClr val="D7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65960"/>
            <a:ext cx="11064240" cy="5532120"/>
          </a:xfrm>
          <a:prstGeom prst="rect">
            <a:avLst/>
          </a:prstGeom>
          <a:effectLst>
            <a:outerShdw blurRad="90000" dist="38100" dir="5400000" rotWithShape="0">
              <a:srgbClr val="1A2236">
                <a:alpha val="26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822960" y="7516367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兩條鐵則守住安全邊界:</a:t>
            </a:r>
            <a:r>
              <a:rPr sz="13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① Gateway 永不直接呼叫 LLM　② AI Engine 不存任何業務狀態。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PatentMind AI　·　NCCU GDGoC × Computex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37215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146304" cy="146304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04 </a:t>
            </a:r>
            <a:r>
              <a:rPr sz="14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· 產品功能說明 · 前端畫面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前端畫面 ①｜登入與角色權限(RBAC)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755648"/>
            <a:ext cx="10561320" cy="0"/>
          </a:xfrm>
          <a:prstGeom prst="bentConnector3">
            <a:avLst/>
          </a:prstGeom>
          <a:ln w="15240">
            <a:solidFill>
              <a:srgbClr val="D7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landing-desktop-1440-chromium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40"/>
            <a:ext cx="5925312" cy="3703320"/>
          </a:xfrm>
          <a:prstGeom prst="rect">
            <a:avLst/>
          </a:prstGeom>
          <a:effectLst>
            <a:outerShdw blurRad="90000" dist="38100" dir="5400000" rotWithShape="0">
              <a:srgbClr val="1A2236">
                <a:alpha val="26000"/>
              </a:srgbClr>
            </a:outerShdw>
          </a:effectLst>
        </p:spPr>
      </p:pic>
      <p:sp>
        <p:nvSpPr>
          <p:cNvPr id="8" name="Oval 7"/>
          <p:cNvSpPr/>
          <p:nvPr/>
        </p:nvSpPr>
        <p:spPr>
          <a:xfrm>
            <a:off x="7251192" y="2286000"/>
            <a:ext cx="310896" cy="310896"/>
          </a:xfrm>
          <a:prstGeom prst="ellipse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8392" y="2249424"/>
            <a:ext cx="38432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官方入口風格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08392" y="2587752"/>
            <a:ext cx="384322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仿專利局入口的乾淨版面,navy 主色 + 金色頂線,弱化技術術語。</a:t>
            </a:r>
          </a:p>
        </p:txBody>
      </p:sp>
      <p:sp>
        <p:nvSpPr>
          <p:cNvPr id="11" name="Oval 10"/>
          <p:cNvSpPr/>
          <p:nvPr/>
        </p:nvSpPr>
        <p:spPr>
          <a:xfrm>
            <a:off x="7251192" y="3218688"/>
            <a:ext cx="310896" cy="310896"/>
          </a:xfrm>
          <a:prstGeom prst="ellipse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08392" y="3182112"/>
            <a:ext cx="38432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四種角色登入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08392" y="3520440"/>
            <a:ext cx="384322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Alice 律師 / Bob 助理 / Carol IT / Dave 稽核 — 直接示範權限分流。</a:t>
            </a:r>
          </a:p>
        </p:txBody>
      </p:sp>
      <p:sp>
        <p:nvSpPr>
          <p:cNvPr id="14" name="Oval 13"/>
          <p:cNvSpPr/>
          <p:nvPr/>
        </p:nvSpPr>
        <p:spPr>
          <a:xfrm>
            <a:off x="7251192" y="4151376"/>
            <a:ext cx="310896" cy="310896"/>
          </a:xfrm>
          <a:prstGeom prst="ellipse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4114800"/>
            <a:ext cx="38432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租戶標示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4453128"/>
            <a:ext cx="384322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每位使用者標 tenant_a / tenant_b,呼應多租戶隔離(Q5)。</a:t>
            </a:r>
          </a:p>
        </p:txBody>
      </p:sp>
      <p:sp>
        <p:nvSpPr>
          <p:cNvPr id="17" name="Oval 16"/>
          <p:cNvSpPr/>
          <p:nvPr/>
        </p:nvSpPr>
        <p:spPr>
          <a:xfrm>
            <a:off x="7251192" y="5084064"/>
            <a:ext cx="310896" cy="310896"/>
          </a:xfrm>
          <a:prstGeom prst="ellipse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08392" y="5047488"/>
            <a:ext cx="38432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case ACL 前置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08392" y="5385816"/>
            <a:ext cx="384322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登入身分決定可存取哪些 case,後續每筆請求都會檢查(Q12)。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PatentMind AI　·　NCCU GDGoC × Computex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37215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146304" cy="146304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04 </a:t>
            </a:r>
            <a:r>
              <a:rPr sz="14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· 產品功能說明 · 前端畫面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前端畫面 ②｜分析主工作台(三欄)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755648"/>
            <a:ext cx="10561320" cy="0"/>
          </a:xfrm>
          <a:prstGeom prst="bentConnector3">
            <a:avLst/>
          </a:prstGeom>
          <a:ln w="15240">
            <a:solidFill>
              <a:srgbClr val="D7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nalyze-empty-desktop-chromium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40"/>
            <a:ext cx="5925312" cy="3703320"/>
          </a:xfrm>
          <a:prstGeom prst="rect">
            <a:avLst/>
          </a:prstGeom>
          <a:effectLst>
            <a:outerShdw blurRad="90000" dist="38100" dir="5400000" rotWithShape="0">
              <a:srgbClr val="1A2236">
                <a:alpha val="26000"/>
              </a:srgbClr>
            </a:outerShdw>
          </a:effectLst>
        </p:spPr>
      </p:pic>
      <p:sp>
        <p:nvSpPr>
          <p:cNvPr id="8" name="Oval 7"/>
          <p:cNvSpPr/>
          <p:nvPr/>
        </p:nvSpPr>
        <p:spPr>
          <a:xfrm>
            <a:off x="7251192" y="2286000"/>
            <a:ext cx="310896" cy="310896"/>
          </a:xfrm>
          <a:prstGeom prst="ellipse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8392" y="2249424"/>
            <a:ext cx="38432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輸入 OA(左欄)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08392" y="2587752"/>
            <a:ext cx="384322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Case ID + 本案號 + 拖放 PDF/DOCX 或貼上全文,並即時顯示配額(Q18)。</a:t>
            </a:r>
          </a:p>
        </p:txBody>
      </p:sp>
      <p:sp>
        <p:nvSpPr>
          <p:cNvPr id="11" name="Oval 10"/>
          <p:cNvSpPr/>
          <p:nvPr/>
        </p:nvSpPr>
        <p:spPr>
          <a:xfrm>
            <a:off x="7251192" y="3218688"/>
            <a:ext cx="310896" cy="310896"/>
          </a:xfrm>
          <a:prstGeom prst="ellipse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08392" y="3182112"/>
            <a:ext cx="38432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草稿 / 引證(中右欄)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08392" y="3520440"/>
            <a:ext cx="384322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分析後中欄出答辯草稿、右欄列 examiner 引證 + RAG 命中前案。</a:t>
            </a:r>
          </a:p>
        </p:txBody>
      </p:sp>
      <p:sp>
        <p:nvSpPr>
          <p:cNvPr id="14" name="Oval 13"/>
          <p:cNvSpPr/>
          <p:nvPr/>
        </p:nvSpPr>
        <p:spPr>
          <a:xfrm>
            <a:off x="7251192" y="4151376"/>
            <a:ext cx="310896" cy="310896"/>
          </a:xfrm>
          <a:prstGeom prst="ellipse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4114800"/>
            <a:ext cx="38432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資料狀態列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4453128"/>
            <a:ext cx="384322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頂部「資料遮罩:開啟 / 保存於本地 / 一般案件」一眼看出安全狀態(Q3·Q10)。</a:t>
            </a:r>
          </a:p>
        </p:txBody>
      </p:sp>
      <p:sp>
        <p:nvSpPr>
          <p:cNvPr id="17" name="Oval 16"/>
          <p:cNvSpPr/>
          <p:nvPr/>
        </p:nvSpPr>
        <p:spPr>
          <a:xfrm>
            <a:off x="7251192" y="5084064"/>
            <a:ext cx="310896" cy="310896"/>
          </a:xfrm>
          <a:prstGeom prst="ellipse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08392" y="5047488"/>
            <a:ext cx="38432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紀錄已驗證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08392" y="5385816"/>
            <a:ext cx="384322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右上徽章顯示稽核鏈已驗證,強調可信任(Q13)。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PatentMind AI　·　NCCU GDGoC × Computex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37215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146304" cy="146304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04 </a:t>
            </a:r>
            <a:r>
              <a:rPr sz="14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· 產品功能說明 · 前端畫面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前端畫面 ③｜分析結果與 grounded 引證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755648"/>
            <a:ext cx="10561320" cy="0"/>
          </a:xfrm>
          <a:prstGeom prst="bentConnector3">
            <a:avLst/>
          </a:prstGeom>
          <a:ln w="15240">
            <a:solidFill>
              <a:srgbClr val="D7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nalyze-result-desktop-chromium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40"/>
            <a:ext cx="5925312" cy="3703320"/>
          </a:xfrm>
          <a:prstGeom prst="rect">
            <a:avLst/>
          </a:prstGeom>
          <a:effectLst>
            <a:outerShdw blurRad="90000" dist="38100" dir="5400000" rotWithShape="0">
              <a:srgbClr val="1A2236">
                <a:alpha val="26000"/>
              </a:srgbClr>
            </a:outerShdw>
          </a:effectLst>
        </p:spPr>
      </p:pic>
      <p:sp>
        <p:nvSpPr>
          <p:cNvPr id="8" name="Oval 7"/>
          <p:cNvSpPr/>
          <p:nvPr/>
        </p:nvSpPr>
        <p:spPr>
          <a:xfrm>
            <a:off x="7251192" y="2286000"/>
            <a:ext cx="310896" cy="310896"/>
          </a:xfrm>
          <a:prstGeom prst="ellipse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8392" y="2249424"/>
            <a:ext cx="38432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生成 → 驗證兩段式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08392" y="2587752"/>
            <a:ext cx="384322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草稿產生後跑 citation verifier,合法引證才保留(Q14)。</a:t>
            </a:r>
          </a:p>
        </p:txBody>
      </p:sp>
      <p:sp>
        <p:nvSpPr>
          <p:cNvPr id="11" name="Oval 10"/>
          <p:cNvSpPr/>
          <p:nvPr/>
        </p:nvSpPr>
        <p:spPr>
          <a:xfrm>
            <a:off x="7251192" y="3218688"/>
            <a:ext cx="310896" cy="310896"/>
          </a:xfrm>
          <a:prstGeom prst="ellipse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08392" y="3182112"/>
            <a:ext cx="38432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可點擊引證 pill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08392" y="3520440"/>
            <a:ext cx="384322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[GROUNDED_REF_N] hover 顯示來源專利 + 段落 + 原文,杜絕幻覺。</a:t>
            </a:r>
          </a:p>
        </p:txBody>
      </p:sp>
      <p:sp>
        <p:nvSpPr>
          <p:cNvPr id="14" name="Oval 13"/>
          <p:cNvSpPr/>
          <p:nvPr/>
        </p:nvSpPr>
        <p:spPr>
          <a:xfrm>
            <a:off x="7251192" y="4151376"/>
            <a:ext cx="310896" cy="310896"/>
          </a:xfrm>
          <a:prstGeom prst="ellipse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4114800"/>
            <a:ext cx="38432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被移除的引證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4453128"/>
            <a:ext cx="384322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不在 grounded set 的引用會標為 [CITATION_REMOVED] 並顯示。</a:t>
            </a:r>
          </a:p>
        </p:txBody>
      </p:sp>
      <p:sp>
        <p:nvSpPr>
          <p:cNvPr id="17" name="Oval 16"/>
          <p:cNvSpPr/>
          <p:nvPr/>
        </p:nvSpPr>
        <p:spPr>
          <a:xfrm>
            <a:off x="7251192" y="5084064"/>
            <a:ext cx="310896" cy="310896"/>
          </a:xfrm>
          <a:prstGeom prst="ellipse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08392" y="5047488"/>
            <a:ext cx="38432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逐句 provenance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08392" y="5385816"/>
            <a:ext cx="384322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每句標示來源(AI / 律師),逐句 Accept / Edit(Q16)。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PatentMind AI　·　NCCU GDGoC × Computex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37215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146304" cy="146304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04 </a:t>
            </a:r>
            <a:r>
              <a:rPr sz="14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· 產品功能說明 · 前端畫面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前端畫面 ④｜行動版 RWD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755648"/>
            <a:ext cx="10561320" cy="0"/>
          </a:xfrm>
          <a:prstGeom prst="bentConnector3">
            <a:avLst/>
          </a:prstGeom>
          <a:ln w="15240">
            <a:solidFill>
              <a:srgbClr val="D7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landing-mobile-375-chromium-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40"/>
            <a:ext cx="1710277" cy="3703320"/>
          </a:xfrm>
          <a:prstGeom prst="rect">
            <a:avLst/>
          </a:prstGeom>
          <a:effectLst>
            <a:outerShdw blurRad="90000" dist="38100" dir="5400000" rotWithShape="0">
              <a:srgbClr val="1A2236">
                <a:alpha val="26000"/>
              </a:srgbClr>
            </a:outerShdw>
          </a:effectLst>
        </p:spPr>
      </p:pic>
      <p:sp>
        <p:nvSpPr>
          <p:cNvPr id="8" name="Oval 7"/>
          <p:cNvSpPr/>
          <p:nvPr/>
        </p:nvSpPr>
        <p:spPr>
          <a:xfrm>
            <a:off x="3036157" y="2286000"/>
            <a:ext cx="310896" cy="310896"/>
          </a:xfrm>
          <a:prstGeom prst="ellipse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93357" y="2249424"/>
            <a:ext cx="805825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單欄自適應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3357" y="2587752"/>
            <a:ext cx="80582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375px 寬下版面自動收合為單欄,行動裝置也能操作。</a:t>
            </a:r>
          </a:p>
        </p:txBody>
      </p:sp>
      <p:sp>
        <p:nvSpPr>
          <p:cNvPr id="11" name="Oval 10"/>
          <p:cNvSpPr/>
          <p:nvPr/>
        </p:nvSpPr>
        <p:spPr>
          <a:xfrm>
            <a:off x="3036157" y="3218688"/>
            <a:ext cx="310896" cy="310896"/>
          </a:xfrm>
          <a:prstGeom prst="ellipse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357" y="3182112"/>
            <a:ext cx="805825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一致的設計語言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357" y="3520440"/>
            <a:ext cx="80582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與桌面版共用 navy 主題與元件,維持品牌一致性。</a:t>
            </a:r>
          </a:p>
        </p:txBody>
      </p:sp>
      <p:sp>
        <p:nvSpPr>
          <p:cNvPr id="14" name="Oval 13"/>
          <p:cNvSpPr/>
          <p:nvPr/>
        </p:nvSpPr>
        <p:spPr>
          <a:xfrm>
            <a:off x="3036157" y="4151376"/>
            <a:ext cx="310896" cy="310896"/>
          </a:xfrm>
          <a:prstGeom prst="ellipse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357" y="4114800"/>
            <a:ext cx="805825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底部分頁列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357" y="4453128"/>
            <a:ext cx="80582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行動版以底部 tab bar 切換 分析 / 案件 / Audit。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PatentMind AI　·　NCCU GDGoC × Computex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7215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486400" cy="3840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0000" b="1">
                <a:solidFill>
                  <a:srgbClr val="2A499A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2606040"/>
            <a:ext cx="6126480" cy="10972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Dify 與 digiRunner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32120" y="3794760"/>
            <a:ext cx="6126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Platform mapping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41264" y="3657600"/>
            <a:ext cx="2743199" cy="0"/>
          </a:xfrm>
          <a:prstGeom prst="bentConnector3">
            <a:avLst/>
          </a:prstGeom>
          <a:ln w="17780">
            <a:solidFill>
              <a:srgbClr val="3B55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146304" cy="146304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05 </a:t>
            </a:r>
            <a:r>
              <a:rPr sz="14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· Dify 與 digiRunner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兩個平台,實機落地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755648"/>
            <a:ext cx="10561320" cy="0"/>
          </a:xfrm>
          <a:prstGeom prst="bentConnector3">
            <a:avLst/>
          </a:prstGeom>
          <a:ln w="15240">
            <a:solidFill>
              <a:srgbClr val="D7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59775" y="182880"/>
            <a:ext cx="38404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0" b="1">
                <a:solidFill>
                  <a:srgbClr val="EEF1F8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057400"/>
            <a:ext cx="64008" cy="18288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0116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digiRunner</a:t>
            </a:r>
            <a:r>
              <a:rPr sz="14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　= API Gateway 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48716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實機:digiRunner OSS(dgrv4):18080,前線代理我們的厚 Gateway :8010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2958084"/>
            <a:ext cx="118872" cy="118872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81328" y="2880360"/>
            <a:ext cx="4645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12 條路由經 AC API 全自動註冊(零手動點擊)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3299269"/>
            <a:ext cx="118872" cy="118872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81328" y="3221545"/>
            <a:ext cx="4645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SPA → digiRunner(/dgrc)→ Gateway 全鏈路煙霧測試 7/7 通過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" y="3871912"/>
            <a:ext cx="118872" cy="118872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81328" y="3794188"/>
            <a:ext cx="4645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上游身分標頭(X-User-Id)信任鏈已驗證;偽造標頭被 401 拒絕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88720" y="4444555"/>
            <a:ext cx="118872" cy="118872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81328" y="4366831"/>
            <a:ext cx="4645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Gateway 仍守 Auth / ACL / 遮罩 / 快取 / 稽核(Q1·Q12·Q18·Q10·Q9·Q13)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2057400"/>
            <a:ext cx="64008" cy="1828800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59" y="20116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Dify</a:t>
            </a:r>
            <a:r>
              <a:rPr sz="14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　= AI workflow 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59" y="248716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實機:Dify CE :8088,workflow 接本機 Ollama qwen2.5:7b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6559" y="2958084"/>
            <a:ext cx="118872" cy="118872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59168" y="2880360"/>
            <a:ext cx="45537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parse_oa / draft 走 patentmind-analyze-oa workflow(LLM_MODE=dify)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59" y="3762184"/>
            <a:ext cx="118872" cy="118872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59168" y="3684460"/>
            <a:ext cx="45537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Workflow DSL 由 prompts/*.yaml 自動生成 — 單一事實來源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59" y="4334827"/>
            <a:ext cx="118872" cy="118872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59168" y="4257103"/>
            <a:ext cx="45537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citation verifier 留在本地程式(Q14 硬牆,防幻覺不可繞過)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6559" y="4907470"/>
            <a:ext cx="118872" cy="118872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59168" y="4829746"/>
            <a:ext cx="45537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Dify 斷線自動降級 + 前端醒目警示;機密案件不出機器(Q15)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22960" y="4709160"/>
            <a:ext cx="10561320" cy="0"/>
          </a:xfrm>
          <a:prstGeom prst="bentConnector3">
            <a:avLst/>
          </a:prstGeom>
          <a:ln w="15240">
            <a:solidFill>
              <a:srgbClr val="D7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22960" y="4864608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分層化解衝突(Q1 厚 Gateway × Q2 Dify 編排):</a:t>
            </a:r>
            <a:r>
              <a:rPr sz="1500" b="0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Gateway 管高階業務流程,Dify 只做 AI sub-workflow。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鐵則　</a:t>
            </a:r>
            <a:r>
              <a:rPr sz="1400" b="0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Gateway 永不直接打 LLM;Dify 不存業務狀態。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分工　</a:t>
            </a:r>
            <a:r>
              <a:rPr sz="1400" b="0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設計師用 Dify 拉流程,工程師自寫關鍵 tool(OA parser / citation verifier / deadline)。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PatentMind AI　·　NCCU GDGoC × Computex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37215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146304" cy="146304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05 </a:t>
            </a:r>
            <a:r>
              <a:rPr sz="14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· Dify 與 digiRunner · 實機證明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實機證明 ①｜真模型分析結果(qwen2.5:7b via Dify)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755648"/>
            <a:ext cx="10561320" cy="0"/>
          </a:xfrm>
          <a:prstGeom prst="bentConnector3">
            <a:avLst/>
          </a:prstGeom>
          <a:ln w="15240">
            <a:solidFill>
              <a:srgbClr val="D7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real_05_result_real_qw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40"/>
            <a:ext cx="5925312" cy="3703320"/>
          </a:xfrm>
          <a:prstGeom prst="rect">
            <a:avLst/>
          </a:prstGeom>
          <a:effectLst>
            <a:outerShdw blurRad="90000" dist="38100" dir="5400000" rotWithShape="0">
              <a:srgbClr val="1A2236">
                <a:alpha val="26000"/>
              </a:srgbClr>
            </a:outerShdw>
          </a:effectLst>
        </p:spPr>
      </p:pic>
      <p:sp>
        <p:nvSpPr>
          <p:cNvPr id="8" name="Oval 7"/>
          <p:cNvSpPr/>
          <p:nvPr/>
        </p:nvSpPr>
        <p:spPr>
          <a:xfrm>
            <a:off x="7251192" y="2286000"/>
            <a:ext cx="310896" cy="310896"/>
          </a:xfrm>
          <a:prstGeom prst="ellipse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8392" y="2249424"/>
            <a:ext cx="38432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全鏈路 28 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08392" y="2587752"/>
            <a:ext cx="384322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SPA → digiRunner :18080 → Gateway → AI Engine → Dify :8088 → Ollama,無一 mock。</a:t>
            </a:r>
          </a:p>
        </p:txBody>
      </p:sp>
      <p:sp>
        <p:nvSpPr>
          <p:cNvPr id="11" name="Oval 10"/>
          <p:cNvSpPr/>
          <p:nvPr/>
        </p:nvSpPr>
        <p:spPr>
          <a:xfrm>
            <a:off x="7251192" y="3218688"/>
            <a:ext cx="310896" cy="310896"/>
          </a:xfrm>
          <a:prstGeom prst="ellipse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08392" y="3182112"/>
            <a:ext cx="38432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TW OA 正確解析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08392" y="3520440"/>
            <a:ext cx="384322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請求項 9「該第一電動車」缺先行詞 → §26-2 antecedent_basis,真模型分類正確。</a:t>
            </a:r>
          </a:p>
        </p:txBody>
      </p:sp>
      <p:sp>
        <p:nvSpPr>
          <p:cNvPr id="14" name="Oval 13"/>
          <p:cNvSpPr/>
          <p:nvPr/>
        </p:nvSpPr>
        <p:spPr>
          <a:xfrm>
            <a:off x="7251192" y="4151376"/>
            <a:ext cx="310896" cy="310896"/>
          </a:xfrm>
          <a:prstGeom prst="ellipse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4114800"/>
            <a:ext cx="38432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引證驗證硬牆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4453128"/>
            <a:ext cx="384322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真模型也想捏造引用 — verifier 即時剝除並在畫面標示(Q14)。</a:t>
            </a:r>
          </a:p>
        </p:txBody>
      </p:sp>
      <p:sp>
        <p:nvSpPr>
          <p:cNvPr id="17" name="Oval 16"/>
          <p:cNvSpPr/>
          <p:nvPr/>
        </p:nvSpPr>
        <p:spPr>
          <a:xfrm>
            <a:off x="7251192" y="5084064"/>
            <a:ext cx="310896" cy="310896"/>
          </a:xfrm>
          <a:prstGeom prst="ellipse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08392" y="5047488"/>
            <a:ext cx="38432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繁中申復書草稿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08392" y="5385816"/>
            <a:ext cx="384322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qwen2.5:7b 產出 TIPO 格式申復書,逐句簽核後才可匯出(Q16)。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PatentMind AI　·　NCCU GDGoC × Computex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37215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146304" cy="146304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05 </a:t>
            </a:r>
            <a:r>
              <a:rPr sz="14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· Dify 與 digiRunner · 實機證明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實機證明 ②｜稽核鏈與服務狀態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755648"/>
            <a:ext cx="10561320" cy="0"/>
          </a:xfrm>
          <a:prstGeom prst="bentConnector3">
            <a:avLst/>
          </a:prstGeom>
          <a:ln w="15240">
            <a:solidFill>
              <a:srgbClr val="D7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real_08_chain_verifi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40"/>
            <a:ext cx="5925312" cy="3703320"/>
          </a:xfrm>
          <a:prstGeom prst="rect">
            <a:avLst/>
          </a:prstGeom>
          <a:effectLst>
            <a:outerShdw blurRad="90000" dist="38100" dir="5400000" rotWithShape="0">
              <a:srgbClr val="1A2236">
                <a:alpha val="26000"/>
              </a:srgbClr>
            </a:outerShdw>
          </a:effectLst>
        </p:spPr>
      </p:pic>
      <p:sp>
        <p:nvSpPr>
          <p:cNvPr id="8" name="Oval 7"/>
          <p:cNvSpPr/>
          <p:nvPr/>
        </p:nvSpPr>
        <p:spPr>
          <a:xfrm>
            <a:off x="7251192" y="2286000"/>
            <a:ext cx="310896" cy="310896"/>
          </a:xfrm>
          <a:prstGeom prst="ellipse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8392" y="2249424"/>
            <a:ext cx="38432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模型欄寫入 dify/qwen2.5:7b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08392" y="2587752"/>
            <a:ext cx="384322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每筆分析的稽核列記錄實際模型 — 可究責、可回溯(Q13)。</a:t>
            </a:r>
          </a:p>
        </p:txBody>
      </p:sp>
      <p:sp>
        <p:nvSpPr>
          <p:cNvPr id="11" name="Oval 10"/>
          <p:cNvSpPr/>
          <p:nvPr/>
        </p:nvSpPr>
        <p:spPr>
          <a:xfrm>
            <a:off x="7251192" y="3218688"/>
            <a:ext cx="310896" cy="310896"/>
          </a:xfrm>
          <a:prstGeom prst="ellipse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08392" y="3182112"/>
            <a:ext cx="38432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Hash chain 全數驗證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08392" y="3520440"/>
            <a:ext cx="384322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29 筆紀錄 0 不一致;append-only + 觸發器阻擋竄改。</a:t>
            </a:r>
          </a:p>
        </p:txBody>
      </p:sp>
      <p:sp>
        <p:nvSpPr>
          <p:cNvPr id="14" name="Oval 13"/>
          <p:cNvSpPr/>
          <p:nvPr/>
        </p:nvSpPr>
        <p:spPr>
          <a:xfrm>
            <a:off x="7251192" y="4151376"/>
            <a:ext cx="310896" cy="310896"/>
          </a:xfrm>
          <a:prstGeom prst="ellipse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4114800"/>
            <a:ext cx="38432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遮罩規則留痕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4453128"/>
            <a:ext cx="384322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phone_tw_landline 等命中規則寫入稽核,證明遮罩真的有跑(Q10)。</a:t>
            </a:r>
          </a:p>
        </p:txBody>
      </p:sp>
      <p:sp>
        <p:nvSpPr>
          <p:cNvPr id="17" name="Oval 16"/>
          <p:cNvSpPr/>
          <p:nvPr/>
        </p:nvSpPr>
        <p:spPr>
          <a:xfrm>
            <a:off x="7251192" y="5084064"/>
            <a:ext cx="310896" cy="310896"/>
          </a:xfrm>
          <a:prstGeom prst="ellipse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08392" y="5047488"/>
            <a:ext cx="38432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四燈服務狀態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08392" y="5385816"/>
            <a:ext cx="384322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頁尾 Gateway / AI Engine / digiRunner / Dify 即時健康燈號全綠。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PatentMind AI　·　NCCU GDGoC × Computex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37215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486400" cy="3840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0000" b="1">
                <a:solidFill>
                  <a:srgbClr val="2A499A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2606040"/>
            <a:ext cx="6126480" cy="10972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未來展望 · 收穫與心得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32120" y="3794760"/>
            <a:ext cx="6126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Roadmap &amp; takeaways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41264" y="3657600"/>
            <a:ext cx="2743199" cy="0"/>
          </a:xfrm>
          <a:prstGeom prst="bentConnector3">
            <a:avLst/>
          </a:prstGeom>
          <a:ln w="17780">
            <a:solidFill>
              <a:srgbClr val="3B55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146304" cy="146304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06 </a:t>
            </a:r>
            <a:r>
              <a:rPr sz="14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· 未來展望 · 收穫與心得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上線整備與反思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755648"/>
            <a:ext cx="10561320" cy="0"/>
          </a:xfrm>
          <a:prstGeom prst="bentConnector3">
            <a:avLst/>
          </a:prstGeom>
          <a:ln w="15240">
            <a:solidFill>
              <a:srgbClr val="D7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59775" y="182880"/>
            <a:ext cx="38404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0" b="1">
                <a:solidFill>
                  <a:srgbClr val="EEF1F8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未來展望(P0 上線整備)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500884"/>
            <a:ext cx="118872" cy="118872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423160"/>
            <a:ext cx="482803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✔ 已落地:Redis 快取、Qdrant 向量庫、PDF/DOCX 上傳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082671"/>
            <a:ext cx="118872" cy="118872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3004947"/>
            <a:ext cx="482803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✔ 已落地:OIDC/SAML 介接層、WORM 稽核封存、digiRunner+Dify 實機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664458"/>
            <a:ext cx="118872" cy="118872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3586734"/>
            <a:ext cx="482803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接真實 Anthropic API(架構已就緒,等 key);Vision 讀圖擴大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46245"/>
            <a:ext cx="118872" cy="118872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4168521"/>
            <a:ext cx="482803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Postgres 稽核主存 + S3 Object Lock;Grafana 儀表板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828032"/>
            <a:ext cx="118872" cy="118872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750308"/>
            <a:ext cx="482803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律師抽樣評分的 AI 品質評測週期(30+50 案基線已建)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0116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收穫與心得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500884"/>
            <a:ext cx="118872" cy="118872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93408" y="2423160"/>
            <a:ext cx="4645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把 20 項架構決策變成「測試守得住的不變式」,而非口頭規範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082671"/>
            <a:ext cx="118872" cy="118872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8" y="3004947"/>
            <a:ext cx="4645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安全與信任不是功能,是預設不可關閉的閘道 — 這就是護城河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664458"/>
            <a:ext cx="118872" cy="118872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8" y="3586734"/>
            <a:ext cx="4645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受規範領域導入 AI,瓶頸在「可稽核 + 可究責」,不在模型本身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246245"/>
            <a:ext cx="118872" cy="118872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3408" y="4168521"/>
            <a:ext cx="4645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Mock-first 讓 demo 可重現,又能 env 一鍵換成 production 元件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PatentMind AI　·　NCCU GDGoC × Computex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37215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486400" cy="3840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0000" b="1">
                <a:solidFill>
                  <a:srgbClr val="2A499A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2606040"/>
            <a:ext cx="6126480" cy="10972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32120" y="3794760"/>
            <a:ext cx="6126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Live walkthrough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41264" y="3657600"/>
            <a:ext cx="2743199" cy="0"/>
          </a:xfrm>
          <a:prstGeom prst="bentConnector3">
            <a:avLst/>
          </a:prstGeom>
          <a:ln w="17780">
            <a:solidFill>
              <a:srgbClr val="3B55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146304" cy="146304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6692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07 </a:t>
            </a:r>
            <a:r>
              <a:rPr sz="14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·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1E3A8A"/>
                </a:solidFill>
                <a:latin typeface="Microsoft JhengHei"/>
                <a:ea typeface="Microsoft JhengHei"/>
                <a:cs typeface="Microsoft JhengHei"/>
              </a:rPr>
              <a:t>現場操作流程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755648"/>
            <a:ext cx="10561320" cy="0"/>
          </a:xfrm>
          <a:prstGeom prst="bentConnector3">
            <a:avLst/>
          </a:prstGeom>
          <a:ln w="15240">
            <a:solidFill>
              <a:srgbClr val="D7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59775" y="182880"/>
            <a:ext cx="38404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0" b="1">
                <a:solidFill>
                  <a:srgbClr val="EEF1F8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203911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以 Alice(律師)登入</a:t>
            </a:r>
            <a:r>
              <a:rPr sz="11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　Q12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40487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分析 CASE-2025-001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90088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9718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預覽 redaction</a:t>
            </a:r>
            <a:r>
              <a:rPr sz="11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　Q10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3375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email / 電話 / 案號 → placeholder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22776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390448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跑分析 → 點 [GROUNDED_REF_1]</a:t>
            </a:r>
            <a:r>
              <a:rPr sz="11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　Q14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427024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看來源專利 + 段落 + 原文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55464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4837176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逐句 Accept / Edit</a:t>
            </a:r>
            <a:r>
              <a:rPr sz="11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　Q16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5202936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全部簽核才能匯出答辯稿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057400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2008" y="203911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以 Dave(稽核)登入</a:t>
            </a:r>
            <a:r>
              <a:rPr sz="11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　Q13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22008" y="240487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看 audit log + 驗證 hash chain(綠)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990088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2008" y="29718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改用 -CONF 案號</a:t>
            </a:r>
            <a:r>
              <a:rPr sz="11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　Q15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22008" y="33375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audit 模型自動切地端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922776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2008" y="390448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A2236"/>
                </a:solidFill>
                <a:latin typeface="Microsoft JhengHei"/>
                <a:ea typeface="Microsoft JhengHei"/>
                <a:cs typeface="Microsoft JhengHei"/>
              </a:rPr>
              <a:t>改用 Carol 登入</a:t>
            </a:r>
            <a:r>
              <a:rPr sz="1100" b="1">
                <a:solidFill>
                  <a:srgbClr val="F5B020"/>
                </a:solidFill>
                <a:latin typeface="Microsoft JhengHei"/>
                <a:ea typeface="Microsoft JhengHei"/>
                <a:cs typeface="Microsoft JhengHei"/>
              </a:rPr>
              <a:t>　Q12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22008" y="427024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A6B8C"/>
                </a:solidFill>
                <a:latin typeface="Microsoft JhengHei"/>
                <a:ea typeface="Microsoft JhengHei"/>
                <a:cs typeface="Microsoft JhengHei"/>
              </a:rPr>
              <a:t>403 — 她不在這個 case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PatentMind AI　·　NCCU GDGoC × Computex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37215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7B2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word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286000"/>
            <a:ext cx="4560570" cy="1097280"/>
          </a:xfrm>
          <a:prstGeom prst="rect">
            <a:avLst/>
          </a:prstGeom>
          <a:effectLst>
            <a:outerShdw blurRad="90000" dist="38100" dir="5400000" rotWithShape="0">
              <a:srgbClr val="1A2236">
                <a:alpha val="26000"/>
              </a:srgb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886968" y="38404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謝謝聆聽　·　歡迎 Demo 與提問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" y="4663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6D2EE"/>
                </a:solidFill>
                <a:latin typeface="Microsoft JhengHei"/>
                <a:ea typeface="Microsoft JhengHei"/>
                <a:cs typeface="Microsoft JhengHei"/>
              </a:rPr>
              <a:t>可信任 AI 閘道 — 讓每一個 AI 主張都可驗證、每一個動作都可稽核。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
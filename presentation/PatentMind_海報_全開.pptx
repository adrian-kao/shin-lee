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28328112" cy="39310056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image" Target="../media/image7.png"/><Relationship Id="rId9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oster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28328112" cy="39310056"/>
          </a:xfrm>
          <a:prstGeom prst="rect">
            <a:avLst/>
          </a:prstGeom>
        </p:spPr>
      </p:pic>
      <p:pic>
        <p:nvPicPr>
          <p:cNvPr id="3" name="Picture 2" descr="logo_word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7280" y="713232"/>
            <a:ext cx="5690997" cy="11887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97280" y="2057400"/>
            <a:ext cx="26133552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6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專利 OA 答辯自動擬稿系統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" y="3950208"/>
            <a:ext cx="2240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3100" b="0">
                <a:solidFill>
                  <a:srgbClr val="C6D2EE"/>
                </a:solidFill>
                <a:latin typeface="Microsoft JhengHei"/>
                <a:ea typeface="Microsoft JhengHei"/>
                <a:cs typeface="Microsoft JhengHei"/>
              </a:rPr>
              <a:t>上傳審查意見書，AI 分類核駁、檢索前案、產出申復書草稿與法定期限　—　</a:t>
            </a:r>
            <a:r>
              <a:rPr sz="3100" b="1">
                <a:solidFill>
                  <a:srgbClr val="F5B020"/>
                </a:solidFill>
                <a:latin typeface="Microsoft JhengHei"/>
                <a:ea typeface="Microsoft JhengHei"/>
                <a:cs typeface="Microsoft JhengHei"/>
              </a:rPr>
              <a:t>機密資料全程不出事務所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143000" y="4846320"/>
            <a:ext cx="2359152" cy="603504"/>
          </a:xfrm>
          <a:prstGeom prst="roundRect">
            <a:avLst>
              <a:gd name="adj" fmla="val 50000"/>
            </a:avLst>
          </a:prstGeom>
          <a:noFill/>
          <a:ln w="28575">
            <a:solidFill>
              <a:srgbClr val="F5B0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43000" y="4846320"/>
            <a:ext cx="2359152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2300" b="1">
                <a:solidFill>
                  <a:srgbClr val="F5B020"/>
                </a:solidFill>
                <a:latin typeface="Microsoft JhengHei"/>
                <a:ea typeface="Microsoft JhengHei"/>
                <a:cs typeface="Microsoft JhengHei"/>
              </a:rPr>
              <a:t>可逆遮罩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886200" y="4846320"/>
            <a:ext cx="3127248" cy="603504"/>
          </a:xfrm>
          <a:prstGeom prst="roundRect">
            <a:avLst>
              <a:gd name="adj" fmla="val 50000"/>
            </a:avLst>
          </a:prstGeom>
          <a:noFill/>
          <a:ln w="28575">
            <a:solidFill>
              <a:srgbClr val="F5B0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886200" y="4846320"/>
            <a:ext cx="3127248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2300" b="1">
                <a:solidFill>
                  <a:srgbClr val="F5B020"/>
                </a:solidFill>
                <a:latin typeface="Microsoft JhengHei"/>
                <a:ea typeface="Microsoft JhengHei"/>
                <a:cs typeface="Microsoft JhengHei"/>
              </a:rPr>
              <a:t>引證驗證硬牆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97496" y="4846320"/>
            <a:ext cx="3127248" cy="603504"/>
          </a:xfrm>
          <a:prstGeom prst="roundRect">
            <a:avLst>
              <a:gd name="adj" fmla="val 50000"/>
            </a:avLst>
          </a:prstGeom>
          <a:noFill/>
          <a:ln w="28575">
            <a:solidFill>
              <a:srgbClr val="F5B0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97496" y="4846320"/>
            <a:ext cx="3127248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2300" b="1">
                <a:solidFill>
                  <a:srgbClr val="F5B020"/>
                </a:solidFill>
                <a:latin typeface="Microsoft JhengHei"/>
                <a:ea typeface="Microsoft JhengHei"/>
                <a:cs typeface="Microsoft JhengHei"/>
              </a:rPr>
              <a:t>不可竄改稽核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908792" y="4846320"/>
            <a:ext cx="3127248" cy="603504"/>
          </a:xfrm>
          <a:prstGeom prst="roundRect">
            <a:avLst>
              <a:gd name="adj" fmla="val 50000"/>
            </a:avLst>
          </a:prstGeom>
          <a:noFill/>
          <a:ln w="28575">
            <a:solidFill>
              <a:srgbClr val="F5B0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908792" y="4846320"/>
            <a:ext cx="3127248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2300" b="1">
                <a:solidFill>
                  <a:srgbClr val="F5B020"/>
                </a:solidFill>
                <a:latin typeface="Microsoft JhengHei"/>
                <a:ea typeface="Microsoft JhengHei"/>
                <a:cs typeface="Microsoft JhengHei"/>
              </a:rPr>
              <a:t>機密強制地端</a:t>
            </a:r>
          </a:p>
        </p:txBody>
      </p:sp>
      <p:sp>
        <p:nvSpPr>
          <p:cNvPr id="14" name="Oval 13"/>
          <p:cNvSpPr/>
          <p:nvPr/>
        </p:nvSpPr>
        <p:spPr>
          <a:xfrm>
            <a:off x="1097280" y="6949440"/>
            <a:ext cx="603504" cy="603504"/>
          </a:xfrm>
          <a:prstGeom prst="ellipse">
            <a:avLst/>
          </a:prstGeom>
          <a:solidFill>
            <a:srgbClr val="F5B020"/>
          </a:solidFill>
          <a:ln>
            <a:noFill/>
          </a:ln>
          <a:effectLst>
            <a:outerShdw blurRad="110000" dist="42000" dir="5400000" rotWithShape="0">
              <a:srgbClr val="1A2236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97280" y="6967727"/>
            <a:ext cx="603504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27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01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65960" y="6894576"/>
            <a:ext cx="219456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4200" b="1">
                <a:solidFill>
                  <a:srgbClr val="1E3A8A"/>
                </a:solidFill>
                <a:latin typeface="Microsoft JhengHei"/>
                <a:ea typeface="Microsoft JhengHei"/>
                <a:cs typeface="Microsoft JhengHei"/>
              </a:rPr>
              <a:t>案件量在漲，答辯時間沒有變多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993391" y="7735823"/>
            <a:ext cx="1554480" cy="68580"/>
          </a:xfrm>
          <a:prstGeom prst="rect">
            <a:avLst/>
          </a:prstGeom>
          <a:solidFill>
            <a:srgbClr val="F5B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133856" y="7973568"/>
            <a:ext cx="274320" cy="109728"/>
          </a:xfrm>
          <a:prstGeom prst="rect">
            <a:avLst/>
          </a:prstGeom>
          <a:solidFill>
            <a:srgbClr val="F5B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97280" y="8211312"/>
            <a:ext cx="6076188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200" b="1">
                <a:solidFill>
                  <a:srgbClr val="1E3A8A"/>
                </a:solidFill>
                <a:latin typeface="Microsoft JhengHei"/>
                <a:ea typeface="Microsoft JhengHei"/>
                <a:cs typeface="Microsoft JhengHei"/>
              </a:rPr>
              <a:t>71,965</a:t>
            </a:r>
            <a:r>
              <a:rPr sz="2600" b="1">
                <a:solidFill>
                  <a:srgbClr val="F5B020"/>
                </a:solidFill>
                <a:latin typeface="Microsoft JhengHei"/>
                <a:ea typeface="Microsoft JhengHei"/>
                <a:cs typeface="Microsoft JhengHei"/>
              </a:rPr>
              <a:t>　件/年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33856" y="9372600"/>
            <a:ext cx="5984748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300" b="0">
                <a:solidFill>
                  <a:srgbClr val="5A6B8C"/>
                </a:solidFill>
                <a:latin typeface="Microsoft JhengHei"/>
                <a:ea typeface="Microsoft JhengHei"/>
                <a:cs typeface="Microsoft JhengHei"/>
              </a:rPr>
              <a:t>台灣專利申請量（2025）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758683" y="7973568"/>
            <a:ext cx="274320" cy="109728"/>
          </a:xfrm>
          <a:prstGeom prst="rect">
            <a:avLst/>
          </a:prstGeom>
          <a:solidFill>
            <a:srgbClr val="F5B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722108" y="8211312"/>
            <a:ext cx="6076188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200" b="1">
                <a:solidFill>
                  <a:srgbClr val="1E3A8A"/>
                </a:solidFill>
                <a:latin typeface="Microsoft JhengHei"/>
                <a:ea typeface="Microsoft JhengHei"/>
                <a:cs typeface="Microsoft JhengHei"/>
              </a:rPr>
              <a:t>8 個月</a:t>
            </a:r>
            <a:r>
              <a:rPr sz="2600" b="1">
                <a:solidFill>
                  <a:srgbClr val="F5B020"/>
                </a:solidFill>
                <a:latin typeface="Microsoft JhengHei"/>
                <a:ea typeface="Microsoft JhengHei"/>
                <a:cs typeface="Microsoft JhengHei"/>
              </a:rPr>
              <a:t>　平均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58683" y="9372600"/>
            <a:ext cx="5984748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300" b="0">
                <a:solidFill>
                  <a:srgbClr val="5A6B8C"/>
                </a:solidFill>
                <a:latin typeface="Microsoft JhengHei"/>
                <a:ea typeface="Microsoft JhengHei"/>
                <a:cs typeface="Microsoft JhengHei"/>
              </a:rPr>
              <a:t>申請後收到首次 OA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520940" y="8046720"/>
            <a:ext cx="20116" cy="1874519"/>
          </a:xfrm>
          <a:prstGeom prst="rect">
            <a:avLst/>
          </a:prstGeom>
          <a:solidFill>
            <a:srgbClr val="D7DD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14383512" y="7973568"/>
            <a:ext cx="274320" cy="109728"/>
          </a:xfrm>
          <a:prstGeom prst="rect">
            <a:avLst/>
          </a:prstGeom>
          <a:solidFill>
            <a:srgbClr val="F5B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4346936" y="8211312"/>
            <a:ext cx="6076188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200" b="1">
                <a:solidFill>
                  <a:srgbClr val="1E3A8A"/>
                </a:solidFill>
                <a:latin typeface="Microsoft JhengHei"/>
                <a:ea typeface="Microsoft JhengHei"/>
                <a:cs typeface="Microsoft JhengHei"/>
              </a:rPr>
              <a:t>2 個月</a:t>
            </a:r>
            <a:r>
              <a:rPr sz="2600" b="1">
                <a:solidFill>
                  <a:srgbClr val="F5B020"/>
                </a:solidFill>
                <a:latin typeface="Microsoft JhengHei"/>
                <a:ea typeface="Microsoft JhengHei"/>
                <a:cs typeface="Microsoft JhengHei"/>
              </a:rPr>
              <a:t>　法定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4383512" y="9372600"/>
            <a:ext cx="5984748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300" b="0">
                <a:solidFill>
                  <a:srgbClr val="5A6B8C"/>
                </a:solidFill>
                <a:latin typeface="Microsoft JhengHei"/>
                <a:ea typeface="Microsoft JhengHei"/>
                <a:cs typeface="Microsoft JhengHei"/>
              </a:rPr>
              <a:t>收文後答辯期限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4145768" y="8046720"/>
            <a:ext cx="20116" cy="1874519"/>
          </a:xfrm>
          <a:prstGeom prst="rect">
            <a:avLst/>
          </a:prstGeom>
          <a:solidFill>
            <a:srgbClr val="D7DD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21008340" y="7973568"/>
            <a:ext cx="274320" cy="109728"/>
          </a:xfrm>
          <a:prstGeom prst="rect">
            <a:avLst/>
          </a:prstGeom>
          <a:solidFill>
            <a:srgbClr val="F5B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20971764" y="8211312"/>
            <a:ext cx="6076188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200" b="1">
                <a:solidFill>
                  <a:srgbClr val="1E3A8A"/>
                </a:solidFill>
                <a:latin typeface="Microsoft JhengHei"/>
                <a:ea typeface="Microsoft JhengHei"/>
                <a:cs typeface="Microsoft JhengHei"/>
              </a:rPr>
              <a:t>4–8 小時</a:t>
            </a:r>
            <a:r>
              <a:rPr sz="2600" b="1">
                <a:solidFill>
                  <a:srgbClr val="F5B020"/>
                </a:solidFill>
                <a:latin typeface="Microsoft JhengHei"/>
                <a:ea typeface="Microsoft JhengHei"/>
                <a:cs typeface="Microsoft JhengHei"/>
              </a:rPr>
              <a:t>　每案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1008340" y="9372600"/>
            <a:ext cx="5984748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300" b="0">
                <a:solidFill>
                  <a:srgbClr val="5A6B8C"/>
                </a:solidFill>
                <a:latin typeface="Microsoft JhengHei"/>
                <a:ea typeface="Microsoft JhengHei"/>
                <a:cs typeface="Microsoft JhengHei"/>
              </a:rPr>
              <a:t>人工答辯前置工時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0770596" y="8046720"/>
            <a:ext cx="20116" cy="1874519"/>
          </a:xfrm>
          <a:prstGeom prst="rect">
            <a:avLst/>
          </a:prstGeom>
          <a:solidFill>
            <a:srgbClr val="D7DD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97280" y="10104120"/>
            <a:ext cx="26133552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400" b="1">
                <a:solidFill>
                  <a:srgbClr val="1E3A8A"/>
                </a:solidFill>
                <a:latin typeface="Microsoft JhengHei"/>
                <a:ea typeface="Microsoft JhengHei"/>
                <a:cs typeface="Microsoft JhengHei"/>
              </a:rPr>
              <a:t>為什麼不直接貼 ChatGPT？　</a:t>
            </a:r>
            <a:r>
              <a:rPr sz="2300" b="0">
                <a:solidFill>
                  <a:srgbClr val="5A6B8C"/>
                </a:solidFill>
                <a:latin typeface="Microsoft JhengHei"/>
                <a:ea typeface="Microsoft JhengHei"/>
                <a:cs typeface="Microsoft JhengHei"/>
              </a:rPr>
              <a:t>機密外洩 · 捏造引用 · 無稽核紀錄 · 期限算錯不可復原 — 所以需要一座有護欄的系統。</a:t>
            </a:r>
          </a:p>
        </p:txBody>
      </p:sp>
      <p:sp>
        <p:nvSpPr>
          <p:cNvPr id="34" name="Oval 33"/>
          <p:cNvSpPr/>
          <p:nvPr/>
        </p:nvSpPr>
        <p:spPr>
          <a:xfrm>
            <a:off x="1097280" y="10698480"/>
            <a:ext cx="603504" cy="603504"/>
          </a:xfrm>
          <a:prstGeom prst="ellipse">
            <a:avLst/>
          </a:prstGeom>
          <a:solidFill>
            <a:srgbClr val="F5B020"/>
          </a:solidFill>
          <a:ln>
            <a:noFill/>
          </a:ln>
          <a:effectLst>
            <a:outerShdw blurRad="110000" dist="42000" dir="5400000" rotWithShape="0">
              <a:srgbClr val="1A2236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097280" y="10716767"/>
            <a:ext cx="603504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27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02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965960" y="10643615"/>
            <a:ext cx="219456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4200" b="1">
                <a:solidFill>
                  <a:srgbClr val="1E3A8A"/>
                </a:solidFill>
                <a:latin typeface="Microsoft JhengHei"/>
                <a:ea typeface="Microsoft JhengHei"/>
                <a:cs typeface="Microsoft JhengHei"/>
              </a:rPr>
              <a:t>功能模組架構 — 一條安全管線</a:t>
            </a:r>
          </a:p>
        </p:txBody>
      </p:sp>
      <p:sp>
        <p:nvSpPr>
          <p:cNvPr id="37" name="Rectangle 36"/>
          <p:cNvSpPr/>
          <p:nvPr/>
        </p:nvSpPr>
        <p:spPr>
          <a:xfrm>
            <a:off x="1993391" y="11484863"/>
            <a:ext cx="1554480" cy="68580"/>
          </a:xfrm>
          <a:prstGeom prst="rect">
            <a:avLst/>
          </a:prstGeom>
          <a:solidFill>
            <a:srgbClr val="F5B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914400" y="11475720"/>
            <a:ext cx="26499312" cy="6543675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>
            <a:noFill/>
          </a:ln>
          <a:effectLst>
            <a:outerShdw blurRad="110000" dist="42000" dir="5400000" rotWithShape="0">
              <a:srgbClr val="1A2236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9" name="Picture 38" descr="_tmp_plain_architectur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62856" y="11887200"/>
            <a:ext cx="19202400" cy="5400675"/>
          </a:xfrm>
          <a:prstGeom prst="rect">
            <a:avLst/>
          </a:prstGeom>
          <a:effectLst/>
        </p:spPr>
      </p:pic>
      <p:sp>
        <p:nvSpPr>
          <p:cNvPr id="40" name="TextBox 39"/>
          <p:cNvSpPr txBox="1"/>
          <p:nvPr/>
        </p:nvSpPr>
        <p:spPr>
          <a:xfrm>
            <a:off x="914400" y="17425035"/>
            <a:ext cx="26499312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2400" b="1">
                <a:solidFill>
                  <a:srgbClr val="F5B020"/>
                </a:solidFill>
                <a:latin typeface="Microsoft JhengHei"/>
                <a:ea typeface="Microsoft JhengHei"/>
                <a:cs typeface="Microsoft JhengHei"/>
              </a:rPr>
              <a:t>兩條鐵則　</a:t>
            </a:r>
            <a:r>
              <a:rPr sz="2300" b="0">
                <a:solidFill>
                  <a:srgbClr val="5A6B8C"/>
                </a:solidFill>
                <a:latin typeface="Microsoft JhengHei"/>
                <a:ea typeface="Microsoft JhengHei"/>
                <a:cs typeface="Microsoft JhengHei"/>
              </a:rPr>
              <a:t>閘道永不直接呼叫模型；推論引擎不保存任何業務資料。</a:t>
            </a:r>
          </a:p>
        </p:txBody>
      </p:sp>
      <p:sp>
        <p:nvSpPr>
          <p:cNvPr id="41" name="Oval 40"/>
          <p:cNvSpPr/>
          <p:nvPr/>
        </p:nvSpPr>
        <p:spPr>
          <a:xfrm>
            <a:off x="1097280" y="18385155"/>
            <a:ext cx="603504" cy="603504"/>
          </a:xfrm>
          <a:prstGeom prst="ellipse">
            <a:avLst/>
          </a:prstGeom>
          <a:solidFill>
            <a:srgbClr val="F5B020"/>
          </a:solidFill>
          <a:ln>
            <a:noFill/>
          </a:ln>
          <a:effectLst>
            <a:outerShdw blurRad="110000" dist="42000" dir="5400000" rotWithShape="0">
              <a:srgbClr val="1A2236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097280" y="18403443"/>
            <a:ext cx="603504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27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03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965960" y="18330291"/>
            <a:ext cx="219456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4200" b="1">
                <a:solidFill>
                  <a:srgbClr val="1E3A8A"/>
                </a:solidFill>
                <a:latin typeface="Microsoft JhengHei"/>
                <a:ea typeface="Microsoft JhengHei"/>
                <a:cs typeface="Microsoft JhengHei"/>
              </a:rPr>
              <a:t>操作流程 × 資料流</a:t>
            </a:r>
          </a:p>
        </p:txBody>
      </p:sp>
      <p:sp>
        <p:nvSpPr>
          <p:cNvPr id="44" name="Rectangle 43"/>
          <p:cNvSpPr/>
          <p:nvPr/>
        </p:nvSpPr>
        <p:spPr>
          <a:xfrm>
            <a:off x="1993391" y="19171539"/>
            <a:ext cx="1554480" cy="68580"/>
          </a:xfrm>
          <a:prstGeom prst="rect">
            <a:avLst/>
          </a:prstGeom>
          <a:solidFill>
            <a:srgbClr val="F5B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ounded Rectangle 44"/>
          <p:cNvSpPr/>
          <p:nvPr/>
        </p:nvSpPr>
        <p:spPr>
          <a:xfrm>
            <a:off x="914400" y="19345275"/>
            <a:ext cx="12929616" cy="5282287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10000" dist="42000" dir="5400000" rotWithShape="0">
              <a:srgbClr val="1A2236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6" name="Picture 45" descr="_tmp_plain_flow_use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075688" y="19802475"/>
            <a:ext cx="10607040" cy="4413607"/>
          </a:xfrm>
          <a:prstGeom prst="rect">
            <a:avLst/>
          </a:prstGeom>
          <a:effectLst/>
        </p:spPr>
      </p:pic>
      <p:sp>
        <p:nvSpPr>
          <p:cNvPr id="47" name="Rounded Rectangle 46"/>
          <p:cNvSpPr/>
          <p:nvPr/>
        </p:nvSpPr>
        <p:spPr>
          <a:xfrm>
            <a:off x="1417320" y="19043523"/>
            <a:ext cx="6327648" cy="603504"/>
          </a:xfrm>
          <a:prstGeom prst="roundRect">
            <a:avLst>
              <a:gd name="adj" fmla="val 50000"/>
            </a:avLst>
          </a:prstGeom>
          <a:solidFill>
            <a:srgbClr val="1E3A8A"/>
          </a:solidFill>
          <a:ln>
            <a:noFill/>
          </a:ln>
          <a:effectLst>
            <a:outerShdw blurRad="110000" dist="42000" dir="5400000" rotWithShape="0">
              <a:srgbClr val="1A2236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1417320" y="19043523"/>
            <a:ext cx="6327648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22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操作流程｜使用者只做 4 件事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14484096" y="19345275"/>
            <a:ext cx="12929616" cy="5282287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10000" dist="42000" dir="5400000" rotWithShape="0">
              <a:srgbClr val="1A2236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0" name="Picture 49" descr="_tmp_plain_flow_data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5645384" y="19802475"/>
            <a:ext cx="10607040" cy="4413607"/>
          </a:xfrm>
          <a:prstGeom prst="rect">
            <a:avLst/>
          </a:prstGeom>
          <a:effectLst/>
        </p:spPr>
      </p:pic>
      <p:sp>
        <p:nvSpPr>
          <p:cNvPr id="51" name="Rounded Rectangle 50"/>
          <p:cNvSpPr/>
          <p:nvPr/>
        </p:nvSpPr>
        <p:spPr>
          <a:xfrm>
            <a:off x="14987016" y="19043523"/>
            <a:ext cx="6711696" cy="603504"/>
          </a:xfrm>
          <a:prstGeom prst="roundRect">
            <a:avLst>
              <a:gd name="adj" fmla="val 50000"/>
            </a:avLst>
          </a:prstGeom>
          <a:solidFill>
            <a:srgbClr val="1E3A8A"/>
          </a:solidFill>
          <a:ln>
            <a:noFill/>
          </a:ln>
          <a:effectLst>
            <a:outerShdw blurRad="110000" dist="42000" dir="5400000" rotWithShape="0">
              <a:srgbClr val="1A2236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14987016" y="19043523"/>
            <a:ext cx="6711696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22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資料流｜每一步都知道資料在誰手上</a:t>
            </a:r>
          </a:p>
        </p:txBody>
      </p:sp>
      <p:sp>
        <p:nvSpPr>
          <p:cNvPr id="53" name="Oval 52"/>
          <p:cNvSpPr/>
          <p:nvPr/>
        </p:nvSpPr>
        <p:spPr>
          <a:xfrm>
            <a:off x="1097280" y="25176202"/>
            <a:ext cx="603504" cy="603504"/>
          </a:xfrm>
          <a:prstGeom prst="ellipse">
            <a:avLst/>
          </a:prstGeom>
          <a:solidFill>
            <a:srgbClr val="F5B020"/>
          </a:solidFill>
          <a:ln>
            <a:noFill/>
          </a:ln>
          <a:effectLst>
            <a:outerShdw blurRad="110000" dist="42000" dir="5400000" rotWithShape="0">
              <a:srgbClr val="1A2236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1097280" y="25194490"/>
            <a:ext cx="603504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27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04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965960" y="25121338"/>
            <a:ext cx="219456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4200" b="1">
                <a:solidFill>
                  <a:srgbClr val="1E3A8A"/>
                </a:solidFill>
                <a:latin typeface="Microsoft JhengHei"/>
                <a:ea typeface="Microsoft JhengHei"/>
                <a:cs typeface="Microsoft JhengHei"/>
              </a:rPr>
              <a:t>AI 任務執行流程 × 信任設計</a:t>
            </a:r>
          </a:p>
        </p:txBody>
      </p:sp>
      <p:sp>
        <p:nvSpPr>
          <p:cNvPr id="56" name="Rectangle 55"/>
          <p:cNvSpPr/>
          <p:nvPr/>
        </p:nvSpPr>
        <p:spPr>
          <a:xfrm>
            <a:off x="1993391" y="25962586"/>
            <a:ext cx="1554480" cy="68580"/>
          </a:xfrm>
          <a:prstGeom prst="rect">
            <a:avLst/>
          </a:prstGeom>
          <a:solidFill>
            <a:srgbClr val="F5B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ounded Rectangle 56"/>
          <p:cNvSpPr/>
          <p:nvPr/>
        </p:nvSpPr>
        <p:spPr>
          <a:xfrm>
            <a:off x="914400" y="26136322"/>
            <a:ext cx="12929616" cy="5282287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10000" dist="42000" dir="5400000" rotWithShape="0">
              <a:srgbClr val="1A2236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8" name="Picture 57" descr="_tmp_plain_flow_ai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075688" y="26593522"/>
            <a:ext cx="10607040" cy="4413607"/>
          </a:xfrm>
          <a:prstGeom prst="rect">
            <a:avLst/>
          </a:prstGeom>
          <a:effectLst/>
        </p:spPr>
      </p:pic>
      <p:sp>
        <p:nvSpPr>
          <p:cNvPr id="59" name="Rounded Rectangle 58"/>
          <p:cNvSpPr/>
          <p:nvPr/>
        </p:nvSpPr>
        <p:spPr>
          <a:xfrm>
            <a:off x="1417320" y="25834570"/>
            <a:ext cx="7095744" cy="603504"/>
          </a:xfrm>
          <a:prstGeom prst="roundRect">
            <a:avLst>
              <a:gd name="adj" fmla="val 50000"/>
            </a:avLst>
          </a:prstGeom>
          <a:solidFill>
            <a:srgbClr val="1E3A8A"/>
          </a:solidFill>
          <a:ln>
            <a:noFill/>
          </a:ln>
          <a:effectLst>
            <a:outerShdw blurRad="110000" dist="42000" dir="5400000" rotWithShape="0">
              <a:srgbClr val="1A2236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1417320" y="25834570"/>
            <a:ext cx="7095744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22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AI 流程｜先舉證、再下筆、寫完還要驗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14484096" y="26136322"/>
            <a:ext cx="6272784" cy="2449119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>
            <a:outerShdw blurRad="110000" dist="42000" dir="5400000" rotWithShape="0">
              <a:srgbClr val="1A2236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Oval 61"/>
          <p:cNvSpPr/>
          <p:nvPr/>
        </p:nvSpPr>
        <p:spPr>
          <a:xfrm>
            <a:off x="14868144" y="26520370"/>
            <a:ext cx="512064" cy="512064"/>
          </a:xfrm>
          <a:prstGeom prst="ellipse">
            <a:avLst/>
          </a:prstGeom>
          <a:solidFill>
            <a:srgbClr val="F5B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14868144" y="26529514"/>
            <a:ext cx="512064" cy="4937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24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✓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5581376" y="26520370"/>
            <a:ext cx="490118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800" b="1">
                <a:solidFill>
                  <a:srgbClr val="1E3A8A"/>
                </a:solidFill>
                <a:latin typeface="Microsoft JhengHei"/>
                <a:ea typeface="Microsoft JhengHei"/>
                <a:cs typeface="Microsoft JhengHei"/>
              </a:rPr>
              <a:t>可逆資料遮罩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4895576" y="27215314"/>
            <a:ext cx="5449824" cy="11689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2100" b="0">
                <a:solidFill>
                  <a:srgbClr val="5A6B8C"/>
                </a:solidFill>
                <a:latin typeface="Microsoft JhengHei"/>
                <a:ea typeface="Microsoft JhengHei"/>
                <a:cs typeface="Microsoft JhengHei"/>
              </a:rPr>
              <a:t>進模型前當事人、案號先變代碼；對照表只存事務所機器。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21140928" y="26136322"/>
            <a:ext cx="6272784" cy="2449119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>
            <a:outerShdw blurRad="110000" dist="42000" dir="5400000" rotWithShape="0">
              <a:srgbClr val="1A2236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Oval 66"/>
          <p:cNvSpPr/>
          <p:nvPr/>
        </p:nvSpPr>
        <p:spPr>
          <a:xfrm>
            <a:off x="21524976" y="26520370"/>
            <a:ext cx="512064" cy="512064"/>
          </a:xfrm>
          <a:prstGeom prst="ellipse">
            <a:avLst/>
          </a:prstGeom>
          <a:solidFill>
            <a:srgbClr val="F5B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21524976" y="26529514"/>
            <a:ext cx="512064" cy="4937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24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✓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22238208" y="26520370"/>
            <a:ext cx="490118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800" b="1">
                <a:solidFill>
                  <a:srgbClr val="1E3A8A"/>
                </a:solidFill>
                <a:latin typeface="Microsoft JhengHei"/>
                <a:ea typeface="Microsoft JhengHei"/>
                <a:cs typeface="Microsoft JhengHei"/>
              </a:rPr>
              <a:t>引證驗證硬牆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21552408" y="27215314"/>
            <a:ext cx="5449824" cy="11689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2100" b="0">
                <a:solidFill>
                  <a:srgbClr val="5A6B8C"/>
                </a:solidFill>
                <a:latin typeface="Microsoft JhengHei"/>
                <a:ea typeface="Microsoft JhengHei"/>
                <a:cs typeface="Microsoft JhengHei"/>
              </a:rPr>
              <a:t>引用逐一比對檢索結果；捏造的直接剝除標示，不可繞過。</a:t>
            </a:r>
          </a:p>
        </p:txBody>
      </p:sp>
      <p:sp>
        <p:nvSpPr>
          <p:cNvPr id="71" name="Rounded Rectangle 70"/>
          <p:cNvSpPr/>
          <p:nvPr/>
        </p:nvSpPr>
        <p:spPr>
          <a:xfrm>
            <a:off x="14484096" y="28969489"/>
            <a:ext cx="6272784" cy="2449119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>
            <a:outerShdw blurRad="110000" dist="42000" dir="5400000" rotWithShape="0">
              <a:srgbClr val="1A2236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Oval 71"/>
          <p:cNvSpPr/>
          <p:nvPr/>
        </p:nvSpPr>
        <p:spPr>
          <a:xfrm>
            <a:off x="14868144" y="29353537"/>
            <a:ext cx="512064" cy="512064"/>
          </a:xfrm>
          <a:prstGeom prst="ellipse">
            <a:avLst/>
          </a:prstGeom>
          <a:solidFill>
            <a:srgbClr val="F5B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14868144" y="29362681"/>
            <a:ext cx="512064" cy="4937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24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✓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15581376" y="29353537"/>
            <a:ext cx="490118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800" b="1">
                <a:solidFill>
                  <a:srgbClr val="1E3A8A"/>
                </a:solidFill>
                <a:latin typeface="Microsoft JhengHei"/>
                <a:ea typeface="Microsoft JhengHei"/>
                <a:cs typeface="Microsoft JhengHei"/>
              </a:rPr>
              <a:t>不可竄改稽核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4895576" y="30048481"/>
            <a:ext cx="5449824" cy="11689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2100" b="0">
                <a:solidFill>
                  <a:srgbClr val="5A6B8C"/>
                </a:solidFill>
                <a:latin typeface="Microsoft JhengHei"/>
                <a:ea typeface="Microsoft JhengHei"/>
                <a:cs typeface="Microsoft JhengHei"/>
              </a:rPr>
              <a:t>每筆請求一列紀錄、雜湊鏈串接；竄改即現形，一鍵可驗。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21140928" y="28969489"/>
            <a:ext cx="6272784" cy="2449119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>
            <a:outerShdw blurRad="110000" dist="42000" dir="5400000" rotWithShape="0">
              <a:srgbClr val="1A2236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Oval 76"/>
          <p:cNvSpPr/>
          <p:nvPr/>
        </p:nvSpPr>
        <p:spPr>
          <a:xfrm>
            <a:off x="21524976" y="29353537"/>
            <a:ext cx="512064" cy="512064"/>
          </a:xfrm>
          <a:prstGeom prst="ellipse">
            <a:avLst/>
          </a:prstGeom>
          <a:solidFill>
            <a:srgbClr val="F5B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21524976" y="29362681"/>
            <a:ext cx="512064" cy="4937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24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✓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22238208" y="29353537"/>
            <a:ext cx="490118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800" b="1">
                <a:solidFill>
                  <a:srgbClr val="1E3A8A"/>
                </a:solidFill>
                <a:latin typeface="Microsoft JhengHei"/>
                <a:ea typeface="Microsoft JhengHei"/>
                <a:cs typeface="Microsoft JhengHei"/>
              </a:rPr>
              <a:t>機密強制地端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21552408" y="30048481"/>
            <a:ext cx="5449824" cy="11689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2100" b="0">
                <a:solidFill>
                  <a:srgbClr val="5A6B8C"/>
                </a:solidFill>
                <a:latin typeface="Microsoft JhengHei"/>
                <a:ea typeface="Microsoft JhengHei"/>
                <a:cs typeface="Microsoft JhengHei"/>
              </a:rPr>
              <a:t>機密案件強制走本地模型；設錯時程式層直接拒絕外送。</a:t>
            </a:r>
          </a:p>
        </p:txBody>
      </p:sp>
      <p:sp>
        <p:nvSpPr>
          <p:cNvPr id="81" name="Oval 80"/>
          <p:cNvSpPr/>
          <p:nvPr/>
        </p:nvSpPr>
        <p:spPr>
          <a:xfrm>
            <a:off x="1097280" y="31967249"/>
            <a:ext cx="603504" cy="603504"/>
          </a:xfrm>
          <a:prstGeom prst="ellipse">
            <a:avLst/>
          </a:prstGeom>
          <a:solidFill>
            <a:srgbClr val="F5B020"/>
          </a:solidFill>
          <a:ln>
            <a:noFill/>
          </a:ln>
          <a:effectLst>
            <a:outerShdw blurRad="110000" dist="42000" dir="5400000" rotWithShape="0">
              <a:srgbClr val="1A2236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1097280" y="31985537"/>
            <a:ext cx="603504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27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05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965960" y="31912385"/>
            <a:ext cx="219456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4200" b="1">
                <a:solidFill>
                  <a:srgbClr val="1E3A8A"/>
                </a:solidFill>
                <a:latin typeface="Microsoft JhengHei"/>
                <a:ea typeface="Microsoft JhengHei"/>
                <a:cs typeface="Microsoft JhengHei"/>
              </a:rPr>
              <a:t>運行實況 — 真實模型、實機鏈路</a:t>
            </a:r>
          </a:p>
        </p:txBody>
      </p:sp>
      <p:sp>
        <p:nvSpPr>
          <p:cNvPr id="84" name="Rectangle 83"/>
          <p:cNvSpPr/>
          <p:nvPr/>
        </p:nvSpPr>
        <p:spPr>
          <a:xfrm>
            <a:off x="1993391" y="32753633"/>
            <a:ext cx="1554480" cy="68580"/>
          </a:xfrm>
          <a:prstGeom prst="rect">
            <a:avLst/>
          </a:prstGeom>
          <a:solidFill>
            <a:srgbClr val="F5B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5" name="Picture 84" descr="real_05_result_real_qwen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 rot="21516000">
            <a:off x="914400" y="33110249"/>
            <a:ext cx="5705856" cy="3566160"/>
          </a:xfrm>
          <a:prstGeom prst="rect">
            <a:avLst/>
          </a:prstGeom>
          <a:effectLst>
            <a:outerShdw blurRad="110000" dist="42000" dir="5400000" rotWithShape="0">
              <a:srgbClr val="1A2236">
                <a:alpha val="24000"/>
              </a:srgbClr>
            </a:outerShdw>
          </a:effectLst>
        </p:spPr>
      </p:pic>
      <p:sp>
        <p:nvSpPr>
          <p:cNvPr id="86" name="Rounded Rectangle 85"/>
          <p:cNvSpPr/>
          <p:nvPr/>
        </p:nvSpPr>
        <p:spPr>
          <a:xfrm>
            <a:off x="1325880" y="36420377"/>
            <a:ext cx="4882896" cy="53035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>
            <a:outerShdw blurRad="110000" dist="42000" dir="5400000" rotWithShape="0">
              <a:srgbClr val="1A2236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1325880" y="36420377"/>
            <a:ext cx="4882896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1700" b="1">
                <a:solidFill>
                  <a:srgbClr val="1E3A8A"/>
                </a:solidFill>
                <a:latin typeface="Microsoft JhengHei"/>
                <a:ea typeface="Microsoft JhengHei"/>
                <a:cs typeface="Microsoft JhengHei"/>
              </a:rPr>
              <a:t>qwen2.5:7b 正確抓出請求項 9 缺先行詞</a:t>
            </a:r>
          </a:p>
        </p:txBody>
      </p:sp>
      <p:pic>
        <p:nvPicPr>
          <p:cNvPr id="88" name="Picture 87" descr="real_08_chain_verifi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 rot="84000">
            <a:off x="7123176" y="33110249"/>
            <a:ext cx="5705856" cy="3566160"/>
          </a:xfrm>
          <a:prstGeom prst="rect">
            <a:avLst/>
          </a:prstGeom>
          <a:effectLst>
            <a:outerShdw blurRad="110000" dist="42000" dir="5400000" rotWithShape="0">
              <a:srgbClr val="1A2236">
                <a:alpha val="24000"/>
              </a:srgbClr>
            </a:outerShdw>
          </a:effectLst>
        </p:spPr>
      </p:pic>
      <p:sp>
        <p:nvSpPr>
          <p:cNvPr id="89" name="Rounded Rectangle 88"/>
          <p:cNvSpPr/>
          <p:nvPr/>
        </p:nvSpPr>
        <p:spPr>
          <a:xfrm>
            <a:off x="7534656" y="36420377"/>
            <a:ext cx="4882896" cy="53035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>
            <a:outerShdw blurRad="110000" dist="42000" dir="5400000" rotWithShape="0">
              <a:srgbClr val="1A2236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7534656" y="36420377"/>
            <a:ext cx="4882896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1700" b="1">
                <a:solidFill>
                  <a:srgbClr val="1E3A8A"/>
                </a:solidFill>
                <a:latin typeface="Microsoft JhengHei"/>
                <a:ea typeface="Microsoft JhengHei"/>
                <a:cs typeface="Microsoft JhengHei"/>
              </a:rPr>
              <a:t>稽核鏈一鍵驗證：29 筆紀錄 0 不一致</a:t>
            </a:r>
          </a:p>
        </p:txBody>
      </p:sp>
      <p:sp>
        <p:nvSpPr>
          <p:cNvPr id="91" name="Rounded Rectangle 90"/>
          <p:cNvSpPr/>
          <p:nvPr/>
        </p:nvSpPr>
        <p:spPr>
          <a:xfrm>
            <a:off x="13560552" y="33110249"/>
            <a:ext cx="13853159" cy="3566160"/>
          </a:xfrm>
          <a:prstGeom prst="roundRect">
            <a:avLst>
              <a:gd name="adj" fmla="val 7000"/>
            </a:avLst>
          </a:prstGeom>
          <a:solidFill>
            <a:srgbClr val="12245C"/>
          </a:solidFill>
          <a:ln>
            <a:noFill/>
          </a:ln>
          <a:effectLst>
            <a:outerShdw blurRad="110000" dist="42000" dir="5400000" rotWithShape="0">
              <a:srgbClr val="1A2236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14109192" y="34024649"/>
            <a:ext cx="3006089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4400" b="1">
                <a:solidFill>
                  <a:srgbClr val="F5B020"/>
                </a:solidFill>
                <a:latin typeface="Microsoft JhengHei"/>
                <a:ea typeface="Microsoft JhengHei"/>
                <a:cs typeface="Microsoft JhengHei"/>
              </a:rPr>
              <a:t>1,232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4109192" y="35076209"/>
            <a:ext cx="3006089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1900" b="0">
                <a:solidFill>
                  <a:srgbClr val="C6D2EE"/>
                </a:solidFill>
                <a:latin typeface="Microsoft JhengHei"/>
                <a:ea typeface="Microsoft JhengHei"/>
                <a:cs typeface="Microsoft JhengHei"/>
              </a:rPr>
              <a:t>後端測試全綠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17298162" y="34024649"/>
            <a:ext cx="3006089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4400" b="1">
                <a:solidFill>
                  <a:srgbClr val="F5B020"/>
                </a:solidFill>
                <a:latin typeface="Microsoft JhengHei"/>
                <a:ea typeface="Microsoft JhengHei"/>
                <a:cs typeface="Microsoft JhengHei"/>
              </a:rPr>
              <a:t>73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17298162" y="35076209"/>
            <a:ext cx="3006089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1900" b="0">
                <a:solidFill>
                  <a:srgbClr val="C6D2EE"/>
                </a:solidFill>
                <a:latin typeface="Microsoft JhengHei"/>
                <a:ea typeface="Microsoft JhengHei"/>
                <a:cs typeface="Microsoft JhengHei"/>
              </a:rPr>
              <a:t>前端 E2E 全綠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20487132" y="34024649"/>
            <a:ext cx="3006089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4400" b="1">
                <a:solidFill>
                  <a:srgbClr val="F5B020"/>
                </a:solidFill>
                <a:latin typeface="Microsoft JhengHei"/>
                <a:ea typeface="Microsoft JhengHei"/>
                <a:cs typeface="Microsoft JhengHei"/>
              </a:rPr>
              <a:t>25 秒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20487132" y="35076209"/>
            <a:ext cx="3006089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1900" b="0">
                <a:solidFill>
                  <a:srgbClr val="C6D2EE"/>
                </a:solidFill>
                <a:latin typeface="Microsoft JhengHei"/>
                <a:ea typeface="Microsoft JhengHei"/>
                <a:cs typeface="Microsoft JhengHei"/>
              </a:rPr>
              <a:t>實機全鏈路分析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23676102" y="34024649"/>
            <a:ext cx="3006089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4400" b="1">
                <a:solidFill>
                  <a:srgbClr val="F5B020"/>
                </a:solidFill>
                <a:latin typeface="Microsoft JhengHei"/>
                <a:ea typeface="Microsoft JhengHei"/>
                <a:cs typeface="Microsoft JhengHei"/>
              </a:rPr>
              <a:t>0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23676102" y="35076209"/>
            <a:ext cx="3006089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1900" b="0">
                <a:solidFill>
                  <a:srgbClr val="C6D2EE"/>
                </a:solidFill>
                <a:latin typeface="Microsoft JhengHei"/>
                <a:ea typeface="Microsoft JhengHei"/>
                <a:cs typeface="Microsoft JhengHei"/>
              </a:rPr>
              <a:t>機密外送事件</a:t>
            </a:r>
          </a:p>
        </p:txBody>
      </p:sp>
      <p:sp>
        <p:nvSpPr>
          <p:cNvPr id="100" name="Oval 99"/>
          <p:cNvSpPr/>
          <p:nvPr/>
        </p:nvSpPr>
        <p:spPr>
          <a:xfrm rot="21000000">
            <a:off x="26270711" y="32470169"/>
            <a:ext cx="1508760" cy="1508760"/>
          </a:xfrm>
          <a:prstGeom prst="ellipse">
            <a:avLst/>
          </a:prstGeom>
          <a:solidFill>
            <a:srgbClr val="F5B020"/>
          </a:solidFill>
          <a:ln>
            <a:noFill/>
          </a:ln>
          <a:effectLst>
            <a:outerShdw blurRad="110000" dist="42000" dir="5400000" rotWithShape="0">
              <a:srgbClr val="1A2236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 rot="21000000">
            <a:off x="26270711" y="32543321"/>
            <a:ext cx="1508760" cy="1508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2200" b="1">
                <a:solidFill>
                  <a:srgbClr val="12245C"/>
                </a:solidFill>
                <a:latin typeface="Microsoft JhengHei"/>
                <a:ea typeface="Microsoft JhengHei"/>
                <a:cs typeface="Microsoft JhengHei"/>
              </a:rPr>
              <a:t>ALL</a:t>
            </a:r>
          </a:p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2200" b="1">
                <a:solidFill>
                  <a:srgbClr val="12245C"/>
                </a:solidFill>
                <a:latin typeface="Microsoft JhengHei"/>
                <a:ea typeface="Microsoft JhengHei"/>
                <a:cs typeface="Microsoft JhengHei"/>
              </a:rPr>
              <a:t>GREEN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1097280" y="38349936"/>
            <a:ext cx="2613355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2700" b="0">
                <a:solidFill>
                  <a:srgbClr val="C6D2EE"/>
                </a:solidFill>
                <a:latin typeface="Microsoft JhengHei"/>
                <a:ea typeface="Microsoft JhengHei"/>
                <a:cs typeface="Microsoft JhengHei"/>
              </a:rPr>
              <a:t>實機整合 TPIsoftware digiRunner × Dify　·　本地模型 qwen2.5:7b　·　</a:t>
            </a:r>
            <a:r>
              <a:rPr sz="27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NCCU GDGoC × Computex 2026　|　PatentMind AI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
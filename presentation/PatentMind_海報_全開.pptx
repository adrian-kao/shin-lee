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8328112" cy="3931005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328112" cy="320040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28328112" cy="49834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word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868680"/>
            <a:ext cx="6347650" cy="1325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2331720"/>
            <a:ext cx="2613355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專利 OA 答辯自動擬稿系統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069080"/>
            <a:ext cx="261335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400" b="0">
                <a:solidFill>
                  <a:srgbClr val="C6D2EE"/>
                </a:solidFill>
                <a:latin typeface="Microsoft JhengHei"/>
                <a:ea typeface="Microsoft JhengHei"/>
                <a:cs typeface="Microsoft JhengHei"/>
              </a:rPr>
              <a:t>上傳審查意見書，自動分類核駁理由、檢索前案、產出申復書草稿與法定期限 — </a:t>
            </a:r>
            <a:r>
              <a:rPr sz="34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機密資料全程不出事務所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5824728"/>
            <a:ext cx="384048" cy="384048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5715000"/>
            <a:ext cx="1280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8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01 </a:t>
            </a:r>
            <a:r>
              <a:rPr sz="38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· 為什麼需要它 — 案件量在漲，答辯時間沒有變多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6720840"/>
            <a:ext cx="6190488" cy="2286000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" y="6720840"/>
            <a:ext cx="128016" cy="2286000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7040880"/>
            <a:ext cx="54589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60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71,965</a:t>
            </a:r>
            <a:r>
              <a:rPr sz="28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　件/年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8229600"/>
            <a:ext cx="54589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台灣專利申請量（2025）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44968" y="6720840"/>
            <a:ext cx="6190488" cy="2286000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44968" y="6720840"/>
            <a:ext cx="128016" cy="2286000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7040880"/>
            <a:ext cx="54589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60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8 個月</a:t>
            </a:r>
            <a:r>
              <a:rPr sz="28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　平均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8229600"/>
            <a:ext cx="54589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申請後收到首次 OA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392656" y="6720840"/>
            <a:ext cx="6190488" cy="2286000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4392656" y="6720840"/>
            <a:ext cx="128016" cy="2286000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849856" y="7040880"/>
            <a:ext cx="54589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60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2 個月</a:t>
            </a:r>
            <a:r>
              <a:rPr sz="28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　法定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49856" y="8229600"/>
            <a:ext cx="54589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收文後答辯期限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40344" y="6720840"/>
            <a:ext cx="6190488" cy="2286000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040344" y="6720840"/>
            <a:ext cx="128016" cy="2286000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497544" y="7040880"/>
            <a:ext cx="54589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60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4–8 小時</a:t>
            </a:r>
            <a:r>
              <a:rPr sz="28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　每案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97544" y="8229600"/>
            <a:ext cx="54589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人工答辯前置工時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7280" y="9345167"/>
            <a:ext cx="384048" cy="384048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0" y="9235440"/>
            <a:ext cx="1280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8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02 </a:t>
            </a:r>
            <a:r>
              <a:rPr sz="38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· 功能模組架構 — 一條安全管線</a:t>
            </a:r>
          </a:p>
        </p:txBody>
      </p:sp>
      <p:pic>
        <p:nvPicPr>
          <p:cNvPr id="27" name="Picture 26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056" y="10195560"/>
            <a:ext cx="18288000" cy="61722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97280" y="16568927"/>
            <a:ext cx="261335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兩條鐵則　</a:t>
            </a:r>
            <a:r>
              <a:rPr sz="25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閘道永不直接呼叫模型；推論引擎不保存任何業務資料。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0" y="17529048"/>
            <a:ext cx="384048" cy="384048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0" y="17419320"/>
            <a:ext cx="1280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8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03 </a:t>
            </a:r>
            <a:r>
              <a:rPr sz="38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· 操作流程 × 資料流</a:t>
            </a:r>
          </a:p>
        </p:txBody>
      </p:sp>
      <p:pic>
        <p:nvPicPr>
          <p:cNvPr id="31" name="Picture 30" descr="flow_u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6816" y="18379440"/>
            <a:ext cx="11887200" cy="5691752"/>
          </a:xfrm>
          <a:prstGeom prst="rect">
            <a:avLst/>
          </a:prstGeom>
        </p:spPr>
      </p:pic>
      <p:pic>
        <p:nvPicPr>
          <p:cNvPr id="32" name="Picture 31" descr="flow_da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84096" y="18379440"/>
            <a:ext cx="11887200" cy="5691752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1097280" y="24866720"/>
            <a:ext cx="384048" cy="384048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37360" y="24756992"/>
            <a:ext cx="1280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8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04 </a:t>
            </a:r>
            <a:r>
              <a:rPr sz="38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· AI 任務執行流程 × 信任設計</a:t>
            </a:r>
          </a:p>
        </p:txBody>
      </p:sp>
      <p:pic>
        <p:nvPicPr>
          <p:cNvPr id="35" name="Picture 34" descr="flow_a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6816" y="25717112"/>
            <a:ext cx="11887200" cy="5691752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14484096" y="25717112"/>
            <a:ext cx="11887200" cy="1217198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4484096" y="25717112"/>
            <a:ext cx="128016" cy="121719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987016" y="2585427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可逆資料遮罩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987016" y="26430344"/>
            <a:ext cx="10972800" cy="3942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進模型前，當事人、案號先變代碼；對照表只存事務所機器。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4484096" y="27208630"/>
            <a:ext cx="11887200" cy="1217198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4484096" y="27208630"/>
            <a:ext cx="128016" cy="121719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987016" y="2734579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引證驗證硬牆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987016" y="27921862"/>
            <a:ext cx="10972800" cy="3942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引用逐一比對檢索結果；捏造的直接剝除並標示，不可繞過。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4484096" y="28700148"/>
            <a:ext cx="11887200" cy="1217198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4484096" y="28700148"/>
            <a:ext cx="128016" cy="121719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987016" y="288373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不可竄改稽核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987016" y="29413380"/>
            <a:ext cx="10972800" cy="3942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每筆請求一列紀錄、雜湊鏈串接；竄改即現形，一鍵可驗。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4484096" y="30191666"/>
            <a:ext cx="11887200" cy="1217198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484096" y="30191666"/>
            <a:ext cx="128016" cy="121719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4987016" y="3032882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機密強制地端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987016" y="30904898"/>
            <a:ext cx="10972800" cy="3942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機密案件強制走本地模型；設定錯誤時程式層直接拒絕外送。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97280" y="32067233"/>
            <a:ext cx="384048" cy="384048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737360" y="31957505"/>
            <a:ext cx="1280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8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05 </a:t>
            </a:r>
            <a:r>
              <a:rPr sz="38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· 運行實況 — 真實模型、實機鏈路</a:t>
            </a:r>
          </a:p>
        </p:txBody>
      </p:sp>
      <p:pic>
        <p:nvPicPr>
          <p:cNvPr id="54" name="Picture 53" descr="real_05_result_real_qw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56816" y="32917625"/>
            <a:ext cx="7315200" cy="4572000"/>
          </a:xfrm>
          <a:prstGeom prst="rect">
            <a:avLst/>
          </a:prstGeom>
        </p:spPr>
      </p:pic>
      <p:pic>
        <p:nvPicPr>
          <p:cNvPr id="55" name="Picture 54" descr="real_08_chain_verifi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29216" y="32917625"/>
            <a:ext cx="7315200" cy="4572000"/>
          </a:xfrm>
          <a:prstGeom prst="rect">
            <a:avLst/>
          </a:prstGeom>
        </p:spPr>
      </p:pic>
      <p:sp>
        <p:nvSpPr>
          <p:cNvPr id="56" name="Rectangle 55"/>
          <p:cNvSpPr/>
          <p:nvPr/>
        </p:nvSpPr>
        <p:spPr>
          <a:xfrm>
            <a:off x="17501616" y="32917625"/>
            <a:ext cx="8869680" cy="4572000"/>
          </a:xfrm>
          <a:prstGeom prst="rect">
            <a:avLst/>
          </a:prstGeom>
          <a:solidFill>
            <a:srgbClr val="12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141696" y="33077645"/>
            <a:ext cx="7772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0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1,232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141696" y="33603425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0">
                <a:solidFill>
                  <a:srgbClr val="C6D2EE"/>
                </a:solidFill>
                <a:latin typeface="Microsoft JhengHei"/>
                <a:ea typeface="Microsoft JhengHei"/>
                <a:cs typeface="Microsoft JhengHei"/>
              </a:rPr>
              <a:t>後端測試全綠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141696" y="34220645"/>
            <a:ext cx="7772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0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73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141696" y="34746425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0">
                <a:solidFill>
                  <a:srgbClr val="C6D2EE"/>
                </a:solidFill>
                <a:latin typeface="Microsoft JhengHei"/>
                <a:ea typeface="Microsoft JhengHei"/>
                <a:cs typeface="Microsoft JhengHei"/>
              </a:rPr>
              <a:t>前端 E2E 全綠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141696" y="35363645"/>
            <a:ext cx="7772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0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25 秒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141696" y="35889425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0">
                <a:solidFill>
                  <a:srgbClr val="C6D2EE"/>
                </a:solidFill>
                <a:latin typeface="Microsoft JhengHei"/>
                <a:ea typeface="Microsoft JhengHei"/>
                <a:cs typeface="Microsoft JhengHei"/>
              </a:rPr>
              <a:t>實機全鏈路分析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8141696" y="36506645"/>
            <a:ext cx="7772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0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8141696" y="37032425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0">
                <a:solidFill>
                  <a:srgbClr val="C6D2EE"/>
                </a:solidFill>
                <a:latin typeface="Microsoft JhengHei"/>
                <a:ea typeface="Microsoft JhengHei"/>
                <a:cs typeface="Microsoft JhengHei"/>
              </a:rPr>
              <a:t>機密外送事件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956816" y="37599353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qwen2.5:7b 正確抓出請求項 9 缺先行詞，產出繁中草稿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29216" y="37599353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稽核鏈一鍵驗證：29 筆紀錄 0 不一致，竄改即現形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37984176"/>
            <a:ext cx="28328112" cy="13258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97280" y="38368224"/>
            <a:ext cx="261335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800" b="0">
                <a:solidFill>
                  <a:srgbClr val="C6D2EE"/>
                </a:solidFill>
                <a:latin typeface="Microsoft JhengHei"/>
                <a:ea typeface="Microsoft JhengHei"/>
                <a:cs typeface="Microsoft JhengHei"/>
              </a:rPr>
              <a:t>實機整合 TPIsoftware digiRunner × Dify　·　本地模型 qwen2.5:7b　·　</a:t>
            </a: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NCCU GDGoC × Computex 2026　|　PatentMind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